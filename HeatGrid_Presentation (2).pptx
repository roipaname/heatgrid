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02e7a4a-b40b-f348-f836-f2eebe64096e}">
          <p14:sldIdLst>
            <p14:sldId id="256"/>
            <p14:sldId id="257"/>
            <p14:sldId id="258"/>
          </p14:sldIdLst>
        </p14:section>
        <p14:section name="Method" id="{12e65cc1-f78c-5826-2505-3b4c8ed6c6f2}">
          <p14:sldIdLst>
            <p14:sldId id="259"/>
            <p14:sldId id="260"/>
          </p14:sldIdLst>
        </p14:section>
        <p14:section name="Demo" id="{6fc3a34e-515f-7d1a-8ab9-ccef8ee6a748}">
          <p14:sldIdLst>
            <p14:sldId id="261"/>
          </p14:sldIdLst>
        </p14:section>
        <p14:section name="Results" id="{fc83040e-d63f-a2e7-074c-c40000c2902f}">
          <p14:sldIdLst>
            <p14:sldId id="262"/>
            <p14:sldId id="263"/>
          </p14:sldIdLst>
        </p14:section>
        <p14:section name="Conclusion" id="{9f3cdcbb-0d7e-ed3e-eaa8-3cb46004e5c5}">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2B28"/>
                </a:solidFill>
                <a:latin typeface="+mn-lt"/>
              </a:defRPr>
            </a:pPr>
            <a:r>
              <a:rPr sz="1200" b="0" i="0" u="none" strike="noStrike">
                <a:solidFill>
                  <a:srgbClr val="1D2B28"/>
                </a:solidFill>
                <a:latin typeface="+mn-lt"/>
              </a:rPr>
              <a:t>Median runtime (s), single hotspot, 200 steps</a:t>
            </a:r>
          </a:p>
        </c:rich>
      </c:tx>
      <c:layout/>
      <c:overlay val="0"/>
    </c:title>
    <c:autoTitleDeleted val="0"/>
    <c:plotArea>
      <c:layout/>
      <c:barChart>
        <c:barDir val="col"/>
        <c:grouping val="clustered"/>
        <c:varyColors val="0"/>
        <c:ser>
          <c:idx val="0"/>
          <c:order val="0"/>
          <c:tx>
            <c:strRef>
              <c:f>Sheet1!$B$1</c:f>
              <c:strCache>
                <c:ptCount val="1"/>
                <c:pt idx="0">
                  <c:v>Sequential</c:v>
                </c:pt>
              </c:strCache>
            </c:strRef>
          </c:tx>
          <c:spPr>
            <a:solidFill>
              <a:srgbClr val="6E9488"/>
            </a:solidFill>
            <a:effectLst/>
          </c:spPr>
          <c:invertIfNegative val="0"/>
          <c:dLbls>
            <c:numFmt formatCode="0.00" sourceLinked="0"/>
            <c:txPr>
              <a:bodyPr/>
              <a:lstStyle/>
              <a:p>
                <a:pPr>
                  <a:defRPr b="0" i="0" strike="noStrike" sz="1000" u="none">
                    <a:solidFill>
                      <a:srgbClr val="56645F"/>
                    </a:solidFill>
                    <a:latin typeface="+mn-lt"/>
                  </a:defRPr>
                </a:pPr>
              </a:p>
            </c:txPr>
            <c:showLegendKey val="0"/>
            <c:showVal val="1"/>
            <c:showCatName val="0"/>
            <c:showSerName val="0"/>
            <c:showPercent val="0"/>
            <c:showBubbleSize val="0"/>
            <c:showLeaderLines val="0"/>
          </c:dLbls>
          <c:cat>
            <c:multiLvlStrRef>
              <c:f>Sheet1!$A$2:$A$4</c:f>
              <c:multiLvlStrCache>
                <c:ptCount val="3"/>
                <c:lvl>
                  <c:pt idx="0">
                    <c:v>500²</c:v>
                  </c:pt>
                  <c:pt idx="1">
                    <c:v>1000²</c:v>
                  </c:pt>
                  <c:pt idx="2">
                    <c:v>2000²</c:v>
                  </c:pt>
                </c:lvl>
              </c:multiLvlStrCache>
            </c:multiLvlStrRef>
          </c:cat>
          <c:val>
            <c:numRef>
              <c:f>Sheet1!$B$2:$B$4</c:f>
              <c:numCache>
                <c:formatCode>General</c:formatCode>
                <c:ptCount val="3"/>
                <c:pt idx="0">
                  <c:v>0.597</c:v>
                </c:pt>
                <c:pt idx="1">
                  <c:v>2.314</c:v>
                </c:pt>
                <c:pt idx="2">
                  <c:v>10.735</c:v>
                </c:pt>
              </c:numCache>
            </c:numRef>
          </c:val>
        </c:ser>
        <c:ser>
          <c:idx val="1"/>
          <c:order val="1"/>
          <c:tx>
            <c:strRef>
              <c:f>Sheet1!$C$1</c:f>
              <c:strCache>
                <c:ptCount val="1"/>
                <c:pt idx="0">
                  <c:v>Best 2-rank MPI</c:v>
                </c:pt>
              </c:strCache>
            </c:strRef>
          </c:tx>
          <c:spPr>
            <a:solidFill>
              <a:srgbClr val="E8835A"/>
            </a:solidFill>
            <a:effectLst/>
          </c:spPr>
          <c:invertIfNegative val="0"/>
          <c:dLbls>
            <c:numFmt formatCode="0.00" sourceLinked="0"/>
            <c:txPr>
              <a:bodyPr/>
              <a:lstStyle/>
              <a:p>
                <a:pPr>
                  <a:defRPr b="0" i="0" strike="noStrike" sz="1000" u="none">
                    <a:solidFill>
                      <a:srgbClr val="56645F"/>
                    </a:solidFill>
                    <a:latin typeface="+mn-lt"/>
                  </a:defRPr>
                </a:pPr>
              </a:p>
            </c:txPr>
            <c:showLegendKey val="0"/>
            <c:showVal val="1"/>
            <c:showCatName val="0"/>
            <c:showSerName val="0"/>
            <c:showPercent val="0"/>
            <c:showBubbleSize val="0"/>
            <c:showLeaderLines val="0"/>
          </c:dLbls>
          <c:cat>
            <c:multiLvlStrRef>
              <c:f>Sheet1!$A$2:$A$4</c:f>
              <c:multiLvlStrCache>
                <c:ptCount val="3"/>
                <c:lvl>
                  <c:pt idx="0">
                    <c:v>500²</c:v>
                  </c:pt>
                  <c:pt idx="1">
                    <c:v>1000²</c:v>
                  </c:pt>
                  <c:pt idx="2">
                    <c:v>2000²</c:v>
                  </c:pt>
                </c:lvl>
              </c:multiLvlStrCache>
            </c:multiLvlStrRef>
          </c:cat>
          <c:val>
            <c:numRef>
              <c:f>Sheet1!$C$2:$C$4</c:f>
              <c:numCache>
                <c:formatCode>General</c:formatCode>
                <c:ptCount val="3"/>
                <c:pt idx="0">
                  <c:v>0.795</c:v>
                </c:pt>
                <c:pt idx="1">
                  <c:v>2.673</c:v>
                </c:pt>
                <c:pt idx="2">
                  <c:v>10.604</c:v>
                </c:pt>
              </c:numCache>
            </c:numRef>
          </c:val>
        </c:ser>
        <c:dLbls>
          <c:numFmt formatCode="0.00" sourceLinked="0"/>
          <c:txPr>
            <a:bodyPr/>
            <a:lstStyle/>
            <a:p>
              <a:pPr>
                <a:defRPr b="0" i="0" strike="noStrike" sz="1000" u="none">
                  <a:solidFill>
                    <a:srgbClr val="56645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6645F"/>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9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6645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6645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HeatGrid studies how grid decomposition and halo exchange mode affect runtime of a 2D heat diffusion solver on a 2-core laptop. Module IT18X97 Parallel Programming, Deliverable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 diffusion is a standard stencil computation. Parallelising it needs halo exchange every step, which is the cost studied. The Johannesburg scenarios are framing only, not measured data. Check the SDG target against the D1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most decomposition studies assume clusters. This work looks at 1 to 4 processes on one small machine. Check the gap wording against the D1 literature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variants share one stencil kernel, so they differ only in decomposition and communication. Uneven sizes give the first n mod p blocks one extra row or column. Global edges use MPI.PROC_NULL neighbours. Non-blocking overlaps the interior update with the halo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covers only the step loop; setup, the correctness check and I/O are excluded. Sequential uses perf_counter. Run order shuffled with seed 7919. Full suite took 58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DEMO.md. Step 1: python scripts/validate.py. Step 2: sequential vs mpiexec -n 2 slab_nonblocking. Step 3: slab_blocking vs slab_nonblocking, then mpiexec -n 4 cartesian_nonblocking. Step 4: README, config/full.json, raw CSV, summarise.py, make_figures.py, show_results.py. Say on camera that this is an M1, not the i5.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2-rank variant is Cartesian non-blocking at every size; at 2000 squared slab non-blocking ties at 10.632 s. Throughput: sequential 83, 86, 74 MLUPS; best 2-rank 62, 75, 75 MLUPS. Two processes barely add throughput. Do not claim any speedup above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RQ2: non-blocking won every pair. Where the saving exceeds the blocking comm time, blocking also costs time outside the timer, plausibly ranks waiting on each other. RQ1: at 2 ranks Compute_dims gives 2x1, same as slab. Other findings: scenario differences are noise since the stencil does the same work; slab_blocking 1-rank 2000 squared outlier at 62.8 s is reported as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note: non-blocking comm time captures only un-hidden waiting; every rank builds the full initial field; the suite metadata records commit c37967a, run from the working copy just before commit 40bf548.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Johannesburg urban heat island sources and other references from the D1 proposal and D2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29600" y="292608"/>
            <a:ext cx="438912" cy="457200"/>
          </a:xfrm>
          <a:prstGeom prst="rect">
            <a:avLst/>
          </a:prstGeom>
        </p:spPr>
      </p:pic>
      <p:sp>
        <p:nvSpPr>
          <p:cNvPr id="3" name="Text 0"/>
          <p:cNvSpPr/>
          <p:nvPr/>
        </p:nvSpPr>
        <p:spPr>
          <a:xfrm>
            <a:off x="548640" y="4736592"/>
            <a:ext cx="4572000" cy="228600"/>
          </a:xfrm>
          <a:prstGeom prst="rect">
            <a:avLst/>
          </a:prstGeom>
          <a:noFill/>
          <a:ln/>
        </p:spPr>
        <p:txBody>
          <a:bodyPr wrap="square" lIns="0" tIns="0" rIns="0" bIns="0" rtlCol="0" anchor="ctr"/>
          <a:lstStyle/>
          <a:p>
            <a:pPr indent="0" marL="0">
              <a:buNone/>
            </a:pPr>
            <a:r>
              <a:rPr lang="en-US" sz="900" dirty="0">
                <a:solidFill>
                  <a:schemeClr val="accent1"/>
                </a:solidFill>
              </a:rPr>
              <a:t>Clarence Ebebe  |  222086329  |  HeatGrid</a:t>
            </a:r>
            <a:endParaRPr lang="en-US" sz="900" dirty="0"/>
          </a:p>
        </p:txBody>
      </p:sp>
      <p:sp>
        <p:nvSpPr>
          <p:cNvPr id="4" name="Text 1"/>
          <p:cNvSpPr/>
          <p:nvPr>
            <p:ph idx="102" type="title" hasCustomPrompt="1"/>
          </p:nvPr>
        </p:nvSpPr>
        <p:spPr>
          <a:xfrm>
            <a:off x="548640" y="292608"/>
            <a:ext cx="7498080" cy="548640"/>
          </a:xfrm>
          <a:prstGeom prst="rect">
            <a:avLst/>
          </a:prstGeom>
          <a:noFill/>
          <a:ln/>
        </p:spPr>
        <p:txBody>
          <a:bodyPr wrap="square" rtlCol="0"/>
          <a:lstStyle>
            <a:lvl1pPr algn="l" indent="0" marL="0">
              <a:buNone/>
              <a:defRPr lang="en-US" sz="2800" b="1" dirty="0">
                <a:solidFill>
                  <a:schemeClr val="tx1"/>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4736592"/>
            <a:ext cx="4572000" cy="228600"/>
          </a:xfrm>
          <a:prstGeom prst="rect">
            <a:avLst/>
          </a:prstGeom>
          <a:noFill/>
          <a:ln/>
        </p:spPr>
        <p:txBody>
          <a:bodyPr wrap="square" lIns="0" tIns="0" rIns="0" bIns="0" rtlCol="0" anchor="ctr"/>
          <a:lstStyle/>
          <a:p>
            <a:pPr indent="0" marL="0">
              <a:buNone/>
            </a:pPr>
            <a:r>
              <a:rPr lang="en-US" sz="900" dirty="0">
                <a:solidFill>
                  <a:schemeClr val="accent5"/>
                </a:solidFill>
              </a:rPr>
              <a:t>Clarence Ebebe  |  222086329  |  HeatGrid</a:t>
            </a:r>
            <a:endParaRPr lang="en-US" sz="900" dirty="0"/>
          </a:p>
        </p:txBody>
      </p:sp>
      <p:sp>
        <p:nvSpPr>
          <p:cNvPr id="3" name="Text 1"/>
          <p:cNvSpPr/>
          <p:nvPr>
            <p:ph idx="101" type="title" hasCustomPrompt="1"/>
          </p:nvPr>
        </p:nvSpPr>
        <p:spPr>
          <a:xfrm>
            <a:off x="548640" y="292608"/>
            <a:ext cx="8046720" cy="548640"/>
          </a:xfrm>
          <a:prstGeom prst="rect">
            <a:avLst/>
          </a:prstGeom>
          <a:noFill/>
          <a:ln/>
        </p:spPr>
        <p:txBody>
          <a:bodyPr wrap="square" rtlCol="0"/>
          <a:lstStyle>
            <a:lvl1pPr algn="l" indent="0" marL="0">
              <a:buNone/>
              <a:defRPr lang="en-US" sz="2800" b="1" dirty="0">
                <a:solidFill>
                  <a:schemeClr val="bg1"/>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45720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IT18X97 PARALLEL PROGRAMMING  |  DELIVERABLE 2</a:t>
            </a:r>
            <a:endParaRPr lang="en-US" sz="1100" dirty="0"/>
          </a:p>
        </p:txBody>
      </p:sp>
      <p:sp>
        <p:nvSpPr>
          <p:cNvPr id="3" name="Text 1"/>
          <p:cNvSpPr txBox="1"/>
          <p:nvPr/>
        </p:nvSpPr>
        <p:spPr>
          <a:xfrm>
            <a:off x="548640" y="1188720"/>
            <a:ext cx="4572000" cy="777240"/>
          </a:xfrm>
          <a:prstGeom prst="rect">
            <a:avLst/>
          </a:prstGeom>
          <a:noFill/>
          <a:ln/>
        </p:spPr>
        <p:txBody>
          <a:bodyPr wrap="square" lIns="0" tIns="0" rIns="0" bIns="0" rtlCol="0" anchor="t"/>
          <a:lstStyle/>
          <a:p>
            <a:pPr indent="0" marL="0">
              <a:buNone/>
            </a:pPr>
            <a:r>
              <a:rPr lang="en-US" sz="4800" b="1" dirty="0">
                <a:solidFill>
                  <a:schemeClr val="tx1"/>
                </a:solidFill>
                <a:latin typeface="Arial" pitchFamily="34" charset="0"/>
                <a:ea typeface="Arial" pitchFamily="34" charset="-122"/>
                <a:cs typeface="Arial" pitchFamily="34" charset="-120"/>
              </a:rPr>
              <a:t>HeatGrid</a:t>
            </a:r>
            <a:endParaRPr lang="en-US" sz="4800" dirty="0"/>
          </a:p>
        </p:txBody>
      </p:sp>
      <p:sp>
        <p:nvSpPr>
          <p:cNvPr id="4" name="Text 2"/>
          <p:cNvSpPr txBox="1"/>
          <p:nvPr/>
        </p:nvSpPr>
        <p:spPr>
          <a:xfrm>
            <a:off x="548640" y="2011680"/>
            <a:ext cx="4389120" cy="685800"/>
          </a:xfrm>
          <a:prstGeom prst="rect">
            <a:avLst/>
          </a:prstGeom>
          <a:noFill/>
          <a:ln/>
        </p:spPr>
        <p:txBody>
          <a:bodyPr wrap="square" lIns="0" tIns="0" rIns="0" bIns="0" rtlCol="0" anchor="t"/>
          <a:lstStyle/>
          <a:p>
            <a:pPr indent="0" marL="0">
              <a:buNone/>
            </a:pPr>
            <a:r>
              <a:rPr lang="en-US" sz="1800" dirty="0">
                <a:solidFill>
                  <a:schemeClr val="accent6"/>
                </a:solidFill>
              </a:rPr>
              <a:t>Resource-aware MPI heat diffusion using domain decomposition</a:t>
            </a:r>
            <a:endParaRPr lang="en-US" sz="1800" dirty="0"/>
          </a:p>
        </p:txBody>
      </p:sp>
      <p:sp>
        <p:nvSpPr>
          <p:cNvPr id="5" name="Text 3"/>
          <p:cNvSpPr txBox="1"/>
          <p:nvPr/>
        </p:nvSpPr>
        <p:spPr>
          <a:xfrm>
            <a:off x="548640" y="2743200"/>
            <a:ext cx="4206240" cy="822960"/>
          </a:xfrm>
          <a:prstGeom prst="rect">
            <a:avLst/>
          </a:prstGeom>
          <a:noFill/>
          <a:ln/>
        </p:spPr>
        <p:txBody>
          <a:bodyPr wrap="square" lIns="0" tIns="0" rIns="0" bIns="0" rtlCol="0" anchor="t"/>
          <a:lstStyle/>
          <a:p>
            <a:pPr indent="0" marL="0">
              <a:buNone/>
            </a:pPr>
            <a:r>
              <a:rPr lang="en-US" sz="1200" dirty="0">
                <a:solidFill>
                  <a:schemeClr val="tx2"/>
                </a:solidFill>
              </a:rPr>
              <a:t>How splitting the grid (1D slab vs 2D Cartesian) and exchanging halos (blocking vs non-blocking) affect runtime on a 2-core laptop, applied to Johannesburg-style urban heat scenarios.</a:t>
            </a:r>
            <a:endParaRPr lang="en-US" sz="1200" dirty="0"/>
          </a:p>
        </p:txBody>
      </p:sp>
      <p:sp>
        <p:nvSpPr>
          <p:cNvPr id="6" name="Text 4"/>
          <p:cNvSpPr txBox="1"/>
          <p:nvPr/>
        </p:nvSpPr>
        <p:spPr>
          <a:xfrm>
            <a:off x="548640" y="3931920"/>
            <a:ext cx="3657600" cy="594360"/>
          </a:xfrm>
          <a:prstGeom prst="rect">
            <a:avLst/>
          </a:prstGeom>
          <a:noFill/>
          <a:ln/>
        </p:spPr>
        <p:txBody>
          <a:bodyPr wrap="square" lIns="0" tIns="0" rIns="0" bIns="0" rtlCol="0" anchor="t"/>
          <a:lstStyle/>
          <a:p>
            <a:pPr indent="0" marL="0">
              <a:buNone/>
            </a:pPr>
            <a:r>
              <a:rPr lang="en-US" sz="1600" b="1" dirty="0">
                <a:solidFill>
                  <a:schemeClr val="tx1"/>
                </a:solidFill>
              </a:rPr>
              <a:t>Clarence Ebebe</a:t>
            </a:r>
            <a:endParaRPr lang="en-US" sz="1600" dirty="0"/>
          </a:p>
          <a:p>
            <a:pPr indent="0" marL="0">
              <a:buNone/>
            </a:pPr>
            <a:r>
              <a:rPr lang="en-US" sz="1200" dirty="0">
                <a:solidFill>
                  <a:schemeClr val="tx2"/>
                </a:solidFill>
              </a:rPr>
              <a:t>Student number 222086329</a:t>
            </a:r>
            <a:endParaRPr lang="en-US" sz="1600" dirty="0"/>
          </a:p>
        </p:txBody>
      </p:sp>
      <p:pic>
        <p:nvPicPr>
          <p:cNvPr id="7" name="logo" descr="preencoded.png">    </p:cNvPr>
          <p:cNvPicPr>
            <a:picLocks noChangeAspect="1"/>
          </p:cNvPicPr>
          <p:nvPr/>
        </p:nvPicPr>
        <p:blipFill>
          <a:blip r:embed="rId1"/>
          <a:stretch>
            <a:fillRect/>
          </a:stretch>
        </p:blipFill>
        <p:spPr>
          <a:xfrm>
            <a:off x="5349240" y="914400"/>
            <a:ext cx="3200400" cy="3337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749808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Problem, context and motivation</a:t>
            </a:r>
            <a:endParaRPr lang="en-US" sz="2800" dirty="0"/>
          </a:p>
        </p:txBody>
      </p:sp>
      <p:sp>
        <p:nvSpPr>
          <p:cNvPr id="3" name="dot1"/>
          <p:cNvSpPr/>
          <p:nvPr/>
        </p:nvSpPr>
        <p:spPr>
          <a:xfrm>
            <a:off x="548640" y="1115568"/>
            <a:ext cx="329184" cy="329184"/>
          </a:xfrm>
          <a:prstGeom prst="ellipse">
            <a:avLst/>
          </a:prstGeom>
          <a:solidFill>
            <a:schemeClr val="accent2"/>
          </a:solidFill>
          <a:ln/>
        </p:spPr>
      </p:sp>
      <p:sp>
        <p:nvSpPr>
          <p:cNvPr id="4" name="Text 2"/>
          <p:cNvSpPr txBox="1"/>
          <p:nvPr/>
        </p:nvSpPr>
        <p:spPr>
          <a:xfrm>
            <a:off x="548640" y="11155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 3"/>
          <p:cNvSpPr txBox="1"/>
          <p:nvPr/>
        </p:nvSpPr>
        <p:spPr>
          <a:xfrm>
            <a:off x="1005840" y="1097280"/>
            <a:ext cx="3200400" cy="274320"/>
          </a:xfrm>
          <a:prstGeom prst="rect">
            <a:avLst/>
          </a:prstGeom>
          <a:noFill/>
          <a:ln/>
        </p:spPr>
        <p:txBody>
          <a:bodyPr wrap="square" lIns="0" tIns="0" rIns="0" bIns="0" rtlCol="0" anchor="t"/>
          <a:lstStyle/>
          <a:p>
            <a:pPr indent="0" marL="0">
              <a:buNone/>
            </a:pPr>
            <a:r>
              <a:rPr lang="en-US" sz="1400" b="1" dirty="0">
                <a:solidFill>
                  <a:schemeClr val="tx1"/>
                </a:solidFill>
              </a:rPr>
              <a:t>The problem</a:t>
            </a:r>
            <a:endParaRPr lang="en-US" sz="1400" dirty="0"/>
          </a:p>
        </p:txBody>
      </p:sp>
      <p:sp>
        <p:nvSpPr>
          <p:cNvPr id="6" name="Text 4"/>
          <p:cNvSpPr txBox="1"/>
          <p:nvPr/>
        </p:nvSpPr>
        <p:spPr>
          <a:xfrm>
            <a:off x="1005840" y="1389888"/>
            <a:ext cx="3200400" cy="594360"/>
          </a:xfrm>
          <a:prstGeom prst="rect">
            <a:avLst/>
          </a:prstGeom>
          <a:noFill/>
          <a:ln/>
        </p:spPr>
        <p:txBody>
          <a:bodyPr wrap="square" lIns="0" tIns="0" rIns="0" bIns="0" rtlCol="0" anchor="t"/>
          <a:lstStyle/>
          <a:p>
            <a:pPr indent="0" marL="0">
              <a:buNone/>
            </a:pPr>
            <a:r>
              <a:rPr lang="en-US" sz="1100" dirty="0">
                <a:solidFill>
                  <a:schemeClr val="tx2"/>
                </a:solidFill>
              </a:rPr>
              <a:t>Every cell updates from its four neighbours each step. Splitting the grid forces halo swaps every step, and that cost is what this study measures.</a:t>
            </a:r>
            <a:endParaRPr lang="en-US" sz="1100" dirty="0"/>
          </a:p>
        </p:txBody>
      </p:sp>
      <p:sp>
        <p:nvSpPr>
          <p:cNvPr id="7" name="dot2"/>
          <p:cNvSpPr/>
          <p:nvPr/>
        </p:nvSpPr>
        <p:spPr>
          <a:xfrm>
            <a:off x="548640" y="2075688"/>
            <a:ext cx="329184" cy="329184"/>
          </a:xfrm>
          <a:prstGeom prst="ellipse">
            <a:avLst/>
          </a:prstGeom>
          <a:solidFill>
            <a:schemeClr val="accent2"/>
          </a:solidFill>
          <a:ln/>
        </p:spPr>
      </p:sp>
      <p:sp>
        <p:nvSpPr>
          <p:cNvPr id="8" name="Text 6"/>
          <p:cNvSpPr txBox="1"/>
          <p:nvPr/>
        </p:nvSpPr>
        <p:spPr>
          <a:xfrm>
            <a:off x="548640" y="20756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1005840" y="2057400"/>
            <a:ext cx="3200400" cy="274320"/>
          </a:xfrm>
          <a:prstGeom prst="rect">
            <a:avLst/>
          </a:prstGeom>
          <a:noFill/>
          <a:ln/>
        </p:spPr>
        <p:txBody>
          <a:bodyPr wrap="square" lIns="0" tIns="0" rIns="0" bIns="0" rtlCol="0" anchor="t"/>
          <a:lstStyle/>
          <a:p>
            <a:pPr indent="0" marL="0">
              <a:buNone/>
            </a:pPr>
            <a:r>
              <a:rPr lang="en-US" sz="1400" b="1" dirty="0">
                <a:solidFill>
                  <a:schemeClr val="tx1"/>
                </a:solidFill>
              </a:rPr>
              <a:t>Why parallel fits</a:t>
            </a:r>
            <a:endParaRPr lang="en-US" sz="1400" dirty="0"/>
          </a:p>
        </p:txBody>
      </p:sp>
      <p:sp>
        <p:nvSpPr>
          <p:cNvPr id="10" name="Text 8"/>
          <p:cNvSpPr txBox="1"/>
          <p:nvPr/>
        </p:nvSpPr>
        <p:spPr>
          <a:xfrm>
            <a:off x="1005840" y="2350008"/>
            <a:ext cx="3200400" cy="594360"/>
          </a:xfrm>
          <a:prstGeom prst="rect">
            <a:avLst/>
          </a:prstGeom>
          <a:noFill/>
          <a:ln/>
        </p:spPr>
        <p:txBody>
          <a:bodyPr wrap="square" lIns="0" tIns="0" rIns="0" bIns="0" rtlCol="0" anchor="t"/>
          <a:lstStyle/>
          <a:p>
            <a:pPr indent="0" marL="0">
              <a:buNone/>
            </a:pPr>
            <a:r>
              <a:rPr lang="en-US" sz="1100" dirty="0">
                <a:solidFill>
                  <a:schemeClr val="tx2"/>
                </a:solidFill>
              </a:rPr>
              <a:t>Each step is data-parallel with local, regular communication, a clean test of decomposition and communication choices.</a:t>
            </a:r>
            <a:endParaRPr lang="en-US" sz="1100" dirty="0"/>
          </a:p>
        </p:txBody>
      </p:sp>
      <p:sp>
        <p:nvSpPr>
          <p:cNvPr id="11" name="dot3"/>
          <p:cNvSpPr/>
          <p:nvPr/>
        </p:nvSpPr>
        <p:spPr>
          <a:xfrm>
            <a:off x="548640" y="3035808"/>
            <a:ext cx="329184" cy="329184"/>
          </a:xfrm>
          <a:prstGeom prst="ellipse">
            <a:avLst/>
          </a:prstGeom>
          <a:solidFill>
            <a:schemeClr val="accent2"/>
          </a:solidFill>
          <a:ln/>
        </p:spPr>
      </p:sp>
      <p:sp>
        <p:nvSpPr>
          <p:cNvPr id="12" name="Text 10"/>
          <p:cNvSpPr txBox="1"/>
          <p:nvPr/>
        </p:nvSpPr>
        <p:spPr>
          <a:xfrm>
            <a:off x="548640" y="303580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1"/>
          <p:cNvSpPr txBox="1"/>
          <p:nvPr/>
        </p:nvSpPr>
        <p:spPr>
          <a:xfrm>
            <a:off x="1005840" y="3017520"/>
            <a:ext cx="3200400" cy="274320"/>
          </a:xfrm>
          <a:prstGeom prst="rect">
            <a:avLst/>
          </a:prstGeom>
          <a:noFill/>
          <a:ln/>
        </p:spPr>
        <p:txBody>
          <a:bodyPr wrap="square" lIns="0" tIns="0" rIns="0" bIns="0" rtlCol="0" anchor="t"/>
          <a:lstStyle/>
          <a:p>
            <a:pPr indent="0" marL="0">
              <a:buNone/>
            </a:pPr>
            <a:r>
              <a:rPr lang="en-US" sz="1400" b="1" dirty="0">
                <a:solidFill>
                  <a:schemeClr val="tx1"/>
                </a:solidFill>
              </a:rPr>
              <a:t>South African relevance</a:t>
            </a:r>
            <a:endParaRPr lang="en-US" sz="1400" dirty="0"/>
          </a:p>
        </p:txBody>
      </p:sp>
      <p:sp>
        <p:nvSpPr>
          <p:cNvPr id="14" name="Text 12"/>
          <p:cNvSpPr txBox="1"/>
          <p:nvPr/>
        </p:nvSpPr>
        <p:spPr>
          <a:xfrm>
            <a:off x="1005840" y="3310128"/>
            <a:ext cx="3200400" cy="594360"/>
          </a:xfrm>
          <a:prstGeom prst="rect">
            <a:avLst/>
          </a:prstGeom>
          <a:noFill/>
          <a:ln/>
        </p:spPr>
        <p:txBody>
          <a:bodyPr wrap="square" lIns="0" tIns="0" rIns="0" bIns="0" rtlCol="0" anchor="t"/>
          <a:lstStyle/>
          <a:p>
            <a:pPr indent="0" marL="0">
              <a:buNone/>
            </a:pPr>
            <a:r>
              <a:rPr lang="en-US" sz="1100" dirty="0">
                <a:solidFill>
                  <a:schemeClr val="tx2"/>
                </a:solidFill>
              </a:rPr>
              <a:t>Scenarios mirror Johannesburg heat structure: a heat island, hotspots and a gradient. Runs on commodity hardware, no cluster.</a:t>
            </a:r>
            <a:endParaRPr lang="en-US" sz="1100" dirty="0"/>
          </a:p>
        </p:txBody>
      </p:sp>
      <p:sp>
        <p:nvSpPr>
          <p:cNvPr id="15" name="figCard"/>
          <p:cNvSpPr/>
          <p:nvPr/>
        </p:nvSpPr>
        <p:spPr>
          <a:xfrm>
            <a:off x="4434840" y="1051560"/>
            <a:ext cx="4160520" cy="2788920"/>
          </a:xfrm>
          <a:prstGeom prst="roundRect">
            <a:avLst>
              <a:gd name="adj" fmla="val 2623"/>
            </a:avLst>
          </a:prstGeom>
          <a:solidFill>
            <a:schemeClr val="bg2"/>
          </a:solidFill>
          <a:ln/>
        </p:spPr>
      </p:sp>
      <p:pic>
        <p:nvPicPr>
          <p:cNvPr id="16" name="scenarioFields" descr="fig_scenario_fields.png">    </p:cNvPr>
          <p:cNvPicPr>
            <a:picLocks noChangeAspect="1"/>
          </p:cNvPicPr>
          <p:nvPr/>
        </p:nvPicPr>
        <p:blipFill>
          <a:blip r:embed="rId1"/>
          <a:stretch>
            <a:fillRect/>
          </a:stretch>
        </p:blipFill>
        <p:spPr>
          <a:xfrm>
            <a:off x="4572000" y="1161288"/>
            <a:ext cx="3886200" cy="1956816"/>
          </a:xfrm>
          <a:prstGeom prst="rect">
            <a:avLst/>
          </a:prstGeom>
        </p:spPr>
      </p:pic>
      <p:sp>
        <p:nvSpPr>
          <p:cNvPr id="17" name="Text 14"/>
          <p:cNvSpPr txBox="1"/>
          <p:nvPr/>
        </p:nvSpPr>
        <p:spPr>
          <a:xfrm>
            <a:off x="4617720" y="3246120"/>
            <a:ext cx="3840480" cy="457200"/>
          </a:xfrm>
          <a:prstGeom prst="rect">
            <a:avLst/>
          </a:prstGeom>
          <a:noFill/>
          <a:ln/>
        </p:spPr>
        <p:txBody>
          <a:bodyPr wrap="square" lIns="0" tIns="0" rIns="0" bIns="0" rtlCol="0" anchor="t"/>
          <a:lstStyle/>
          <a:p>
            <a:pPr indent="0" marL="0">
              <a:buNone/>
            </a:pPr>
            <a:r>
              <a:rPr lang="en-US" sz="1000" dirty="0">
                <a:solidFill>
                  <a:schemeClr val="tx2"/>
                </a:solidFill>
              </a:rPr>
              <a:t>Seeded synthetic input scenarios, initial and after 2000 steps. Not measured temperatures.</a:t>
            </a:r>
            <a:endParaRPr lang="en-US" sz="1000" dirty="0"/>
          </a:p>
        </p:txBody>
      </p:sp>
      <p:sp>
        <p:nvSpPr>
          <p:cNvPr id="18" name="Text 15"/>
          <p:cNvSpPr txBox="1"/>
          <p:nvPr/>
        </p:nvSpPr>
        <p:spPr>
          <a:xfrm>
            <a:off x="548640" y="4069080"/>
            <a:ext cx="8046720" cy="457200"/>
          </a:xfrm>
          <a:prstGeom prst="rect">
            <a:avLst/>
          </a:prstGeom>
          <a:noFill/>
          <a:ln/>
        </p:spPr>
        <p:txBody>
          <a:bodyPr wrap="square" lIns="0" tIns="0" rIns="0" bIns="0" rtlCol="0" anchor="ctr"/>
          <a:lstStyle/>
          <a:p>
            <a:pPr indent="0" marL="0">
              <a:buNone/>
            </a:pPr>
            <a:r>
              <a:rPr lang="en-US" sz="1200" b="1" dirty="0">
                <a:solidFill>
                  <a:schemeClr val="accent6"/>
                </a:solidFill>
              </a:rPr>
              <a:t>SDG 9, target 9.5: </a:t>
            </a:r>
            <a:pPr indent="0" marL="0">
              <a:buNone/>
            </a:pPr>
            <a:r>
              <a:rPr lang="en-US" sz="1200" dirty="0">
                <a:solidFill>
                  <a:schemeClr val="tx2"/>
                </a:solidFill>
              </a:rPr>
              <a:t>strengthening research capability on low-cost hardware. This project makes no climate prediction; any SDG benefit is a possible future use.</a:t>
            </a:r>
            <a:endParaRPr lang="en-US" sz="12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749808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Research gap, questions and contribution</a:t>
            </a:r>
            <a:endParaRPr lang="en-US" sz="2800" dirty="0"/>
          </a:p>
        </p:txBody>
      </p:sp>
      <p:sp>
        <p:nvSpPr>
          <p:cNvPr id="3" name="Text 1"/>
          <p:cNvSpPr txBox="1"/>
          <p:nvPr/>
        </p:nvSpPr>
        <p:spPr>
          <a:xfrm>
            <a:off x="548640" y="1143000"/>
            <a:ext cx="3291840" cy="274320"/>
          </a:xfrm>
          <a:prstGeom prst="rect">
            <a:avLst/>
          </a:prstGeom>
          <a:noFill/>
          <a:ln/>
        </p:spPr>
        <p:txBody>
          <a:bodyPr wrap="square" lIns="0" tIns="0" rIns="0" bIns="0" rtlCol="0" anchor="t"/>
          <a:lstStyle/>
          <a:p>
            <a:pPr indent="0" marL="0">
              <a:buNone/>
            </a:pPr>
            <a:r>
              <a:rPr lang="en-US" sz="1500" b="1" dirty="0">
                <a:solidFill>
                  <a:schemeClr val="accent6"/>
                </a:solidFill>
              </a:rPr>
              <a:t>Research gap</a:t>
            </a:r>
            <a:endParaRPr lang="en-US" sz="1500" dirty="0"/>
          </a:p>
        </p:txBody>
      </p:sp>
      <p:sp>
        <p:nvSpPr>
          <p:cNvPr id="4" name="Text 2"/>
          <p:cNvSpPr txBox="1"/>
          <p:nvPr/>
        </p:nvSpPr>
        <p:spPr>
          <a:xfrm>
            <a:off x="548640" y="1463040"/>
            <a:ext cx="3291840" cy="1280160"/>
          </a:xfrm>
          <a:prstGeom prst="rect">
            <a:avLst/>
          </a:prstGeom>
          <a:noFill/>
          <a:ln/>
        </p:spPr>
        <p:txBody>
          <a:bodyPr wrap="square" lIns="0" tIns="0" rIns="0" bIns="0" rtlCol="0" anchor="t"/>
          <a:lstStyle/>
          <a:p>
            <a:pPr indent="0" marL="0">
              <a:buNone/>
            </a:pPr>
            <a:r>
              <a:rPr lang="en-US" sz="1200" dirty="0">
                <a:solidFill>
                  <a:schemeClr val="tx2"/>
                </a:solidFill>
              </a:rPr>
              <a:t>Decomposition and overlap studies usually target clusters with many cores and fast networks. Little is reported for 1 to 4 processes on one small shared-memory machine, the hardware many African students and small groups actually have.</a:t>
            </a:r>
            <a:endParaRPr lang="en-US" sz="1200" dirty="0"/>
          </a:p>
        </p:txBody>
      </p:sp>
      <p:sp>
        <p:nvSpPr>
          <p:cNvPr id="5" name="Text 3"/>
          <p:cNvSpPr txBox="1"/>
          <p:nvPr/>
        </p:nvSpPr>
        <p:spPr>
          <a:xfrm>
            <a:off x="548640" y="2834640"/>
            <a:ext cx="3291840" cy="274320"/>
          </a:xfrm>
          <a:prstGeom prst="rect">
            <a:avLst/>
          </a:prstGeom>
          <a:noFill/>
          <a:ln/>
        </p:spPr>
        <p:txBody>
          <a:bodyPr wrap="square" lIns="0" tIns="0" rIns="0" bIns="0" rtlCol="0" anchor="t"/>
          <a:lstStyle/>
          <a:p>
            <a:pPr indent="0" marL="0">
              <a:buNone/>
            </a:pPr>
            <a:r>
              <a:rPr lang="en-US" sz="1500" b="1" dirty="0">
                <a:solidFill>
                  <a:schemeClr val="accent6"/>
                </a:solidFill>
              </a:rPr>
              <a:t>Contribution</a:t>
            </a:r>
            <a:endParaRPr lang="en-US" sz="1500" dirty="0"/>
          </a:p>
        </p:txBody>
      </p:sp>
      <p:sp>
        <p:nvSpPr>
          <p:cNvPr id="6" name="Text 4"/>
          <p:cNvSpPr txBox="1"/>
          <p:nvPr/>
        </p:nvSpPr>
        <p:spPr>
          <a:xfrm>
            <a:off x="548640" y="3154680"/>
            <a:ext cx="3291840" cy="12801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Five implementations sharing one stencil kernel</a:t>
            </a:r>
            <a:endParaRPr lang="en-US" sz="1200" dirty="0"/>
          </a:p>
          <a:p>
            <a:pPr marL="177800" indent="-177800">
              <a:spcAft>
                <a:spcPts val="500"/>
              </a:spcAft>
              <a:buSzPct val="100000"/>
              <a:buChar char="•"/>
            </a:pPr>
            <a:r>
              <a:rPr lang="en-US" sz="1200" dirty="0">
                <a:solidFill>
                  <a:schemeClr val="tx2"/>
                </a:solidFill>
              </a:rPr>
              <a:t>Reproducible, seeded benchmark pipeline</a:t>
            </a:r>
            <a:endParaRPr lang="en-US" sz="1200" dirty="0"/>
          </a:p>
          <a:p>
            <a:pPr marL="177800" indent="-177800">
              <a:spcAft>
                <a:spcPts val="500"/>
              </a:spcAft>
              <a:buSzPct val="100000"/>
              <a:buChar char="•"/>
            </a:pPr>
            <a:r>
              <a:rPr lang="en-US" sz="1200" dirty="0">
                <a:solidFill>
                  <a:schemeClr val="tx2"/>
                </a:solidFill>
              </a:rPr>
              <a:t>Measured answer to RQ2, argued limit for RQ1</a:t>
            </a:r>
            <a:endParaRPr lang="en-US" sz="1200" dirty="0"/>
          </a:p>
        </p:txBody>
      </p:sp>
      <p:sp>
        <p:nvSpPr>
          <p:cNvPr id="7" name="rq0"/>
          <p:cNvSpPr/>
          <p:nvPr/>
        </p:nvSpPr>
        <p:spPr>
          <a:xfrm>
            <a:off x="4206240" y="1143000"/>
            <a:ext cx="4389120" cy="1463040"/>
          </a:xfrm>
          <a:prstGeom prst="roundRect">
            <a:avLst>
              <a:gd name="adj" fmla="val 5000"/>
            </a:avLst>
          </a:prstGeom>
          <a:solidFill>
            <a:schemeClr val="bg2"/>
          </a:solidFill>
          <a:ln/>
        </p:spPr>
      </p:sp>
      <p:sp>
        <p:nvSpPr>
          <p:cNvPr id="8" name="Text 6"/>
          <p:cNvSpPr txBox="1"/>
          <p:nvPr/>
        </p:nvSpPr>
        <p:spPr>
          <a:xfrm>
            <a:off x="4434840" y="1325880"/>
            <a:ext cx="914400" cy="457200"/>
          </a:xfrm>
          <a:prstGeom prst="rect">
            <a:avLst/>
          </a:prstGeom>
          <a:noFill/>
          <a:ln/>
        </p:spPr>
        <p:txBody>
          <a:bodyPr wrap="square" lIns="0" tIns="0" rIns="0" bIns="0" rtlCol="0" anchor="t"/>
          <a:lstStyle/>
          <a:p>
            <a:pPr indent="0" marL="0">
              <a:buNone/>
            </a:pPr>
            <a:r>
              <a:rPr lang="en-US" sz="2600" b="1" dirty="0">
                <a:solidFill>
                  <a:schemeClr val="accent2"/>
                </a:solidFill>
                <a:latin typeface="Arial" pitchFamily="34" charset="0"/>
                <a:ea typeface="Arial" pitchFamily="34" charset="-122"/>
                <a:cs typeface="Arial" pitchFamily="34" charset="-120"/>
              </a:rPr>
              <a:t>RQ1</a:t>
            </a:r>
            <a:endParaRPr lang="en-US" sz="2600" dirty="0"/>
          </a:p>
        </p:txBody>
      </p:sp>
      <p:sp>
        <p:nvSpPr>
          <p:cNvPr id="9" name="Text 7"/>
          <p:cNvSpPr txBox="1"/>
          <p:nvPr/>
        </p:nvSpPr>
        <p:spPr>
          <a:xfrm>
            <a:off x="5394960" y="1344168"/>
            <a:ext cx="3017520" cy="1143000"/>
          </a:xfrm>
          <a:prstGeom prst="rect">
            <a:avLst/>
          </a:prstGeom>
          <a:noFill/>
          <a:ln/>
        </p:spPr>
        <p:txBody>
          <a:bodyPr wrap="square" lIns="0" tIns="0" rIns="0" bIns="0" rtlCol="0" anchor="t"/>
          <a:lstStyle/>
          <a:p>
            <a:pPr indent="0" marL="0">
              <a:buNone/>
            </a:pPr>
            <a:r>
              <a:rPr lang="en-US" sz="1300" dirty="0">
                <a:solidFill>
                  <a:schemeClr val="tx1"/>
                </a:solidFill>
              </a:rPr>
              <a:t>At 1 to 4 processes on one node, for which grid sizes does a 2D Cartesian decomposition beat a 1D slab decomposition?</a:t>
            </a:r>
            <a:endParaRPr lang="en-US" sz="1300" dirty="0"/>
          </a:p>
        </p:txBody>
      </p:sp>
      <p:sp>
        <p:nvSpPr>
          <p:cNvPr id="10" name="rq1"/>
          <p:cNvSpPr/>
          <p:nvPr/>
        </p:nvSpPr>
        <p:spPr>
          <a:xfrm>
            <a:off x="4206240" y="2834640"/>
            <a:ext cx="4389120" cy="1463040"/>
          </a:xfrm>
          <a:prstGeom prst="roundRect">
            <a:avLst>
              <a:gd name="adj" fmla="val 5000"/>
            </a:avLst>
          </a:prstGeom>
          <a:solidFill>
            <a:schemeClr val="bg2"/>
          </a:solidFill>
          <a:ln/>
        </p:spPr>
      </p:sp>
      <p:sp>
        <p:nvSpPr>
          <p:cNvPr id="11" name="Text 9"/>
          <p:cNvSpPr txBox="1"/>
          <p:nvPr/>
        </p:nvSpPr>
        <p:spPr>
          <a:xfrm>
            <a:off x="4434840" y="3017520"/>
            <a:ext cx="914400" cy="457200"/>
          </a:xfrm>
          <a:prstGeom prst="rect">
            <a:avLst/>
          </a:prstGeom>
          <a:noFill/>
          <a:ln/>
        </p:spPr>
        <p:txBody>
          <a:bodyPr wrap="square" lIns="0" tIns="0" rIns="0" bIns="0" rtlCol="0" anchor="t"/>
          <a:lstStyle/>
          <a:p>
            <a:pPr indent="0" marL="0">
              <a:buNone/>
            </a:pPr>
            <a:r>
              <a:rPr lang="en-US" sz="2600" b="1" dirty="0">
                <a:solidFill>
                  <a:schemeClr val="accent2"/>
                </a:solidFill>
                <a:latin typeface="Arial" pitchFamily="34" charset="0"/>
                <a:ea typeface="Arial" pitchFamily="34" charset="-122"/>
                <a:cs typeface="Arial" pitchFamily="34" charset="-120"/>
              </a:rPr>
              <a:t>RQ2</a:t>
            </a:r>
            <a:endParaRPr lang="en-US" sz="2600" dirty="0"/>
          </a:p>
        </p:txBody>
      </p:sp>
      <p:sp>
        <p:nvSpPr>
          <p:cNvPr id="12" name="Text 10"/>
          <p:cNvSpPr txBox="1"/>
          <p:nvPr/>
        </p:nvSpPr>
        <p:spPr>
          <a:xfrm>
            <a:off x="5394960" y="3035808"/>
            <a:ext cx="3017520" cy="1143000"/>
          </a:xfrm>
          <a:prstGeom prst="rect">
            <a:avLst/>
          </a:prstGeom>
          <a:noFill/>
          <a:ln/>
        </p:spPr>
        <p:txBody>
          <a:bodyPr wrap="square" lIns="0" tIns="0" rIns="0" bIns="0" rtlCol="0" anchor="t"/>
          <a:lstStyle/>
          <a:p>
            <a:pPr indent="0" marL="0">
              <a:buNone/>
            </a:pPr>
            <a:r>
              <a:rPr lang="en-US" sz="1300" dirty="0">
                <a:solidFill>
                  <a:schemeClr val="tx1"/>
                </a:solidFill>
              </a:rPr>
              <a:t>How much does non-blocking halo exchange with interior overlap save over blocking exchange, and does the saving fit the measured communication time?</a:t>
            </a:r>
            <a:endParaRPr lang="en-US" sz="13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749808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Sequential and parallel design</a:t>
            </a:r>
            <a:endParaRPr lang="en-US" sz="2800" dirty="0"/>
          </a:p>
        </p:txBody>
      </p:sp>
      <p:sp>
        <p:nvSpPr>
          <p:cNvPr id="3" name="slab0"/>
          <p:cNvSpPr/>
          <p:nvPr/>
        </p:nvSpPr>
        <p:spPr>
          <a:xfrm>
            <a:off x="548640" y="1188720"/>
            <a:ext cx="1554480" cy="338328"/>
          </a:xfrm>
          <a:prstGeom prst="rect">
            <a:avLst/>
          </a:prstGeom>
          <a:solidFill>
            <a:schemeClr val="accent1"/>
          </a:solidFill>
          <a:ln/>
        </p:spPr>
      </p:sp>
      <p:sp>
        <p:nvSpPr>
          <p:cNvPr id="4" name="Text 2"/>
          <p:cNvSpPr txBox="1"/>
          <p:nvPr/>
        </p:nvSpPr>
        <p:spPr>
          <a:xfrm>
            <a:off x="548640" y="1188720"/>
            <a:ext cx="1554480" cy="338328"/>
          </a:xfrm>
          <a:prstGeom prst="rect">
            <a:avLst/>
          </a:prstGeom>
          <a:noFill/>
          <a:ln/>
        </p:spPr>
        <p:txBody>
          <a:bodyPr wrap="square" lIns="0" tIns="0" rIns="0" bIns="0" rtlCol="0" anchor="ctr"/>
          <a:lstStyle/>
          <a:p>
            <a:pPr algn="ctr" indent="0" marL="0">
              <a:buNone/>
            </a:pPr>
            <a:r>
              <a:rPr lang="en-US" sz="1100" dirty="0">
                <a:solidFill>
                  <a:schemeClr val="tx1"/>
                </a:solidFill>
              </a:rPr>
              <a:t>rank 0</a:t>
            </a:r>
            <a:endParaRPr lang="en-US" sz="1100" dirty="0"/>
          </a:p>
        </p:txBody>
      </p:sp>
      <p:sp>
        <p:nvSpPr>
          <p:cNvPr id="5" name="slab1"/>
          <p:cNvSpPr/>
          <p:nvPr/>
        </p:nvSpPr>
        <p:spPr>
          <a:xfrm>
            <a:off x="548640" y="1563624"/>
            <a:ext cx="1554480" cy="338328"/>
          </a:xfrm>
          <a:prstGeom prst="rect">
            <a:avLst/>
          </a:prstGeom>
          <a:solidFill>
            <a:schemeClr val="accent5"/>
          </a:solidFill>
          <a:ln/>
        </p:spPr>
      </p:sp>
      <p:sp>
        <p:nvSpPr>
          <p:cNvPr id="6" name="Text 4"/>
          <p:cNvSpPr txBox="1"/>
          <p:nvPr/>
        </p:nvSpPr>
        <p:spPr>
          <a:xfrm>
            <a:off x="548640" y="1563624"/>
            <a:ext cx="1554480" cy="338328"/>
          </a:xfrm>
          <a:prstGeom prst="rect">
            <a:avLst/>
          </a:prstGeom>
          <a:noFill/>
          <a:ln/>
        </p:spPr>
        <p:txBody>
          <a:bodyPr wrap="square" lIns="0" tIns="0" rIns="0" bIns="0" rtlCol="0" anchor="ctr"/>
          <a:lstStyle/>
          <a:p>
            <a:pPr algn="ctr" indent="0" marL="0">
              <a:buNone/>
            </a:pPr>
            <a:r>
              <a:rPr lang="en-US" sz="1100" dirty="0">
                <a:solidFill>
                  <a:schemeClr val="tx1"/>
                </a:solidFill>
              </a:rPr>
              <a:t>rank 1</a:t>
            </a:r>
            <a:endParaRPr lang="en-US" sz="1100" dirty="0"/>
          </a:p>
        </p:txBody>
      </p:sp>
      <p:sp>
        <p:nvSpPr>
          <p:cNvPr id="7" name="slab2"/>
          <p:cNvSpPr/>
          <p:nvPr/>
        </p:nvSpPr>
        <p:spPr>
          <a:xfrm>
            <a:off x="548640" y="1938528"/>
            <a:ext cx="1554480" cy="338328"/>
          </a:xfrm>
          <a:prstGeom prst="rect">
            <a:avLst/>
          </a:prstGeom>
          <a:solidFill>
            <a:schemeClr val="accent3"/>
          </a:solidFill>
          <a:ln/>
        </p:spPr>
      </p:sp>
      <p:sp>
        <p:nvSpPr>
          <p:cNvPr id="8" name="Text 6"/>
          <p:cNvSpPr txBox="1"/>
          <p:nvPr/>
        </p:nvSpPr>
        <p:spPr>
          <a:xfrm>
            <a:off x="548640" y="1938528"/>
            <a:ext cx="1554480" cy="338328"/>
          </a:xfrm>
          <a:prstGeom prst="rect">
            <a:avLst/>
          </a:prstGeom>
          <a:noFill/>
          <a:ln/>
        </p:spPr>
        <p:txBody>
          <a:bodyPr wrap="square" lIns="0" tIns="0" rIns="0" bIns="0" rtlCol="0" anchor="ctr"/>
          <a:lstStyle/>
          <a:p>
            <a:pPr algn="ctr" indent="0" marL="0">
              <a:buNone/>
            </a:pPr>
            <a:r>
              <a:rPr lang="en-US" sz="1100" dirty="0">
                <a:solidFill>
                  <a:schemeClr val="tx1"/>
                </a:solidFill>
              </a:rPr>
              <a:t>rank 2</a:t>
            </a:r>
            <a:endParaRPr lang="en-US" sz="1100" dirty="0"/>
          </a:p>
        </p:txBody>
      </p:sp>
      <p:sp>
        <p:nvSpPr>
          <p:cNvPr id="9" name="slab3"/>
          <p:cNvSpPr/>
          <p:nvPr/>
        </p:nvSpPr>
        <p:spPr>
          <a:xfrm>
            <a:off x="548640" y="2313432"/>
            <a:ext cx="1554480" cy="338328"/>
          </a:xfrm>
          <a:prstGeom prst="rect">
            <a:avLst/>
          </a:prstGeom>
          <a:solidFill>
            <a:schemeClr val="accent2"/>
          </a:solidFill>
          <a:ln/>
        </p:spPr>
      </p:sp>
      <p:sp>
        <p:nvSpPr>
          <p:cNvPr id="10" name="Text 8"/>
          <p:cNvSpPr txBox="1"/>
          <p:nvPr/>
        </p:nvSpPr>
        <p:spPr>
          <a:xfrm>
            <a:off x="548640" y="2313432"/>
            <a:ext cx="1554480" cy="338328"/>
          </a:xfrm>
          <a:prstGeom prst="rect">
            <a:avLst/>
          </a:prstGeom>
          <a:noFill/>
          <a:ln/>
        </p:spPr>
        <p:txBody>
          <a:bodyPr wrap="square" lIns="0" tIns="0" rIns="0" bIns="0" rtlCol="0" anchor="ctr"/>
          <a:lstStyle/>
          <a:p>
            <a:pPr algn="ctr" indent="0" marL="0">
              <a:buNone/>
            </a:pPr>
            <a:r>
              <a:rPr lang="en-US" sz="1100" dirty="0">
                <a:solidFill>
                  <a:schemeClr val="tx1"/>
                </a:solidFill>
              </a:rPr>
              <a:t>rank 3</a:t>
            </a:r>
            <a:endParaRPr lang="en-US" sz="1100" dirty="0"/>
          </a:p>
        </p:txBody>
      </p:sp>
      <p:sp>
        <p:nvSpPr>
          <p:cNvPr id="11" name="cart0"/>
          <p:cNvSpPr/>
          <p:nvPr/>
        </p:nvSpPr>
        <p:spPr>
          <a:xfrm>
            <a:off x="2468880" y="1188720"/>
            <a:ext cx="749808" cy="713232"/>
          </a:xfrm>
          <a:prstGeom prst="rect">
            <a:avLst/>
          </a:prstGeom>
          <a:solidFill>
            <a:schemeClr val="accent1"/>
          </a:solidFill>
          <a:ln/>
        </p:spPr>
      </p:sp>
      <p:sp>
        <p:nvSpPr>
          <p:cNvPr id="12" name="Text 10"/>
          <p:cNvSpPr txBox="1"/>
          <p:nvPr/>
        </p:nvSpPr>
        <p:spPr>
          <a:xfrm>
            <a:off x="2468880" y="1188720"/>
            <a:ext cx="749808" cy="713232"/>
          </a:xfrm>
          <a:prstGeom prst="rect">
            <a:avLst/>
          </a:prstGeom>
          <a:noFill/>
          <a:ln/>
        </p:spPr>
        <p:txBody>
          <a:bodyPr wrap="square" lIns="0" tIns="0" rIns="0" bIns="0" rtlCol="0" anchor="ctr"/>
          <a:lstStyle/>
          <a:p>
            <a:pPr algn="ctr" indent="0" marL="0">
              <a:buNone/>
            </a:pPr>
            <a:r>
              <a:rPr lang="en-US" sz="1100" dirty="0">
                <a:solidFill>
                  <a:schemeClr val="tx1"/>
                </a:solidFill>
              </a:rPr>
              <a:t>rank 0</a:t>
            </a:r>
            <a:endParaRPr lang="en-US" sz="1100" dirty="0"/>
          </a:p>
        </p:txBody>
      </p:sp>
      <p:sp>
        <p:nvSpPr>
          <p:cNvPr id="13" name="cart1"/>
          <p:cNvSpPr/>
          <p:nvPr/>
        </p:nvSpPr>
        <p:spPr>
          <a:xfrm>
            <a:off x="3255264" y="1188720"/>
            <a:ext cx="749808" cy="713232"/>
          </a:xfrm>
          <a:prstGeom prst="rect">
            <a:avLst/>
          </a:prstGeom>
          <a:solidFill>
            <a:schemeClr val="accent5"/>
          </a:solidFill>
          <a:ln/>
        </p:spPr>
      </p:sp>
      <p:sp>
        <p:nvSpPr>
          <p:cNvPr id="14" name="Text 12"/>
          <p:cNvSpPr txBox="1"/>
          <p:nvPr/>
        </p:nvSpPr>
        <p:spPr>
          <a:xfrm>
            <a:off x="3255264" y="1188720"/>
            <a:ext cx="749808" cy="713232"/>
          </a:xfrm>
          <a:prstGeom prst="rect">
            <a:avLst/>
          </a:prstGeom>
          <a:noFill/>
          <a:ln/>
        </p:spPr>
        <p:txBody>
          <a:bodyPr wrap="square" lIns="0" tIns="0" rIns="0" bIns="0" rtlCol="0" anchor="ctr"/>
          <a:lstStyle/>
          <a:p>
            <a:pPr algn="ctr" indent="0" marL="0">
              <a:buNone/>
            </a:pPr>
            <a:r>
              <a:rPr lang="en-US" sz="1100" dirty="0">
                <a:solidFill>
                  <a:schemeClr val="tx1"/>
                </a:solidFill>
              </a:rPr>
              <a:t>rank 1</a:t>
            </a:r>
            <a:endParaRPr lang="en-US" sz="1100" dirty="0"/>
          </a:p>
        </p:txBody>
      </p:sp>
      <p:sp>
        <p:nvSpPr>
          <p:cNvPr id="15" name="cart2"/>
          <p:cNvSpPr/>
          <p:nvPr/>
        </p:nvSpPr>
        <p:spPr>
          <a:xfrm>
            <a:off x="2468880" y="1938528"/>
            <a:ext cx="749808" cy="713232"/>
          </a:xfrm>
          <a:prstGeom prst="rect">
            <a:avLst/>
          </a:prstGeom>
          <a:solidFill>
            <a:schemeClr val="accent3"/>
          </a:solidFill>
          <a:ln/>
        </p:spPr>
      </p:sp>
      <p:sp>
        <p:nvSpPr>
          <p:cNvPr id="16" name="Text 14"/>
          <p:cNvSpPr txBox="1"/>
          <p:nvPr/>
        </p:nvSpPr>
        <p:spPr>
          <a:xfrm>
            <a:off x="2468880" y="1938528"/>
            <a:ext cx="749808" cy="713232"/>
          </a:xfrm>
          <a:prstGeom prst="rect">
            <a:avLst/>
          </a:prstGeom>
          <a:noFill/>
          <a:ln/>
        </p:spPr>
        <p:txBody>
          <a:bodyPr wrap="square" lIns="0" tIns="0" rIns="0" bIns="0" rtlCol="0" anchor="ctr"/>
          <a:lstStyle/>
          <a:p>
            <a:pPr algn="ctr" indent="0" marL="0">
              <a:buNone/>
            </a:pPr>
            <a:r>
              <a:rPr lang="en-US" sz="1100" dirty="0">
                <a:solidFill>
                  <a:schemeClr val="tx1"/>
                </a:solidFill>
              </a:rPr>
              <a:t>rank 2</a:t>
            </a:r>
            <a:endParaRPr lang="en-US" sz="1100" dirty="0"/>
          </a:p>
        </p:txBody>
      </p:sp>
      <p:sp>
        <p:nvSpPr>
          <p:cNvPr id="17" name="cart3"/>
          <p:cNvSpPr/>
          <p:nvPr/>
        </p:nvSpPr>
        <p:spPr>
          <a:xfrm>
            <a:off x="3255264" y="1938528"/>
            <a:ext cx="749808" cy="713232"/>
          </a:xfrm>
          <a:prstGeom prst="rect">
            <a:avLst/>
          </a:prstGeom>
          <a:solidFill>
            <a:schemeClr val="accent2"/>
          </a:solidFill>
          <a:ln/>
        </p:spPr>
      </p:sp>
      <p:sp>
        <p:nvSpPr>
          <p:cNvPr id="18" name="Text 16"/>
          <p:cNvSpPr txBox="1"/>
          <p:nvPr/>
        </p:nvSpPr>
        <p:spPr>
          <a:xfrm>
            <a:off x="3255264" y="1938528"/>
            <a:ext cx="749808" cy="713232"/>
          </a:xfrm>
          <a:prstGeom prst="rect">
            <a:avLst/>
          </a:prstGeom>
          <a:noFill/>
          <a:ln/>
        </p:spPr>
        <p:txBody>
          <a:bodyPr wrap="square" lIns="0" tIns="0" rIns="0" bIns="0" rtlCol="0" anchor="ctr"/>
          <a:lstStyle/>
          <a:p>
            <a:pPr algn="ctr" indent="0" marL="0">
              <a:buNone/>
            </a:pPr>
            <a:r>
              <a:rPr lang="en-US" sz="1100" dirty="0">
                <a:solidFill>
                  <a:schemeClr val="tx1"/>
                </a:solidFill>
              </a:rPr>
              <a:t>rank 3</a:t>
            </a:r>
            <a:endParaRPr lang="en-US" sz="1100" dirty="0"/>
          </a:p>
        </p:txBody>
      </p:sp>
      <p:sp>
        <p:nvSpPr>
          <p:cNvPr id="19" name="Text 17"/>
          <p:cNvSpPr txBox="1"/>
          <p:nvPr/>
        </p:nvSpPr>
        <p:spPr>
          <a:xfrm>
            <a:off x="548640" y="2724912"/>
            <a:ext cx="1645920" cy="457200"/>
          </a:xfrm>
          <a:prstGeom prst="rect">
            <a:avLst/>
          </a:prstGeom>
          <a:noFill/>
          <a:ln/>
        </p:spPr>
        <p:txBody>
          <a:bodyPr wrap="square" lIns="0" tIns="0" rIns="0" bIns="0" rtlCol="0" anchor="t"/>
          <a:lstStyle/>
          <a:p>
            <a:pPr indent="0" marL="0">
              <a:buNone/>
            </a:pPr>
            <a:r>
              <a:rPr lang="en-US" sz="1100" b="1" dirty="0">
                <a:solidFill>
                  <a:schemeClr val="tx1"/>
                </a:solidFill>
              </a:rPr>
              <a:t>1D slab</a:t>
            </a:r>
            <a:endParaRPr lang="en-US" sz="1100" dirty="0"/>
          </a:p>
          <a:p>
            <a:pPr indent="0" marL="0">
              <a:buNone/>
            </a:pPr>
            <a:r>
              <a:rPr lang="en-US" sz="1100" dirty="0">
                <a:solidFill>
                  <a:schemeClr val="tx2"/>
                </a:solidFill>
              </a:rPr>
              <a:t>N/S halo rows</a:t>
            </a:r>
            <a:endParaRPr lang="en-US" sz="1100" dirty="0"/>
          </a:p>
        </p:txBody>
      </p:sp>
      <p:sp>
        <p:nvSpPr>
          <p:cNvPr id="20" name="Text 18"/>
          <p:cNvSpPr txBox="1"/>
          <p:nvPr/>
        </p:nvSpPr>
        <p:spPr>
          <a:xfrm>
            <a:off x="2468880" y="2724912"/>
            <a:ext cx="1737360" cy="457200"/>
          </a:xfrm>
          <a:prstGeom prst="rect">
            <a:avLst/>
          </a:prstGeom>
          <a:noFill/>
          <a:ln/>
        </p:spPr>
        <p:txBody>
          <a:bodyPr wrap="square" lIns="0" tIns="0" rIns="0" bIns="0" rtlCol="0" anchor="t"/>
          <a:lstStyle/>
          <a:p>
            <a:pPr indent="0" marL="0">
              <a:buNone/>
            </a:pPr>
            <a:r>
              <a:rPr lang="en-US" sz="1100" b="1" dirty="0">
                <a:solidFill>
                  <a:schemeClr val="tx1"/>
                </a:solidFill>
              </a:rPr>
              <a:t>2D Cartesian (2x2)</a:t>
            </a:r>
            <a:endParaRPr lang="en-US" sz="1100" dirty="0"/>
          </a:p>
          <a:p>
            <a:pPr indent="0" marL="0">
              <a:buNone/>
            </a:pPr>
            <a:r>
              <a:rPr lang="en-US" sz="1100" dirty="0">
                <a:solidFill>
                  <a:schemeClr val="tx2"/>
                </a:solidFill>
              </a:rPr>
              <a:t>N/S rows, W/E columns</a:t>
            </a:r>
            <a:endParaRPr lang="en-US" sz="1100" dirty="0"/>
          </a:p>
        </p:txBody>
      </p:sp>
      <p:sp>
        <p:nvSpPr>
          <p:cNvPr id="21" name="stencil"/>
          <p:cNvSpPr/>
          <p:nvPr/>
        </p:nvSpPr>
        <p:spPr>
          <a:xfrm>
            <a:off x="548640" y="3383280"/>
            <a:ext cx="3657600" cy="1097280"/>
          </a:xfrm>
          <a:prstGeom prst="roundRect">
            <a:avLst>
              <a:gd name="adj" fmla="val 6667"/>
            </a:avLst>
          </a:prstGeom>
          <a:solidFill>
            <a:schemeClr val="bg2"/>
          </a:solidFill>
          <a:ln/>
        </p:spPr>
      </p:sp>
      <p:sp>
        <p:nvSpPr>
          <p:cNvPr id="22" name="Text 20"/>
          <p:cNvSpPr txBox="1"/>
          <p:nvPr/>
        </p:nvSpPr>
        <p:spPr>
          <a:xfrm>
            <a:off x="731520" y="3520440"/>
            <a:ext cx="3383280" cy="320040"/>
          </a:xfrm>
          <a:prstGeom prst="rect">
            <a:avLst/>
          </a:prstGeom>
          <a:noFill/>
          <a:ln/>
        </p:spPr>
        <p:txBody>
          <a:bodyPr wrap="square" lIns="0" tIns="0" rIns="0" bIns="0" rtlCol="0" anchor="t"/>
          <a:lstStyle/>
          <a:p>
            <a:pPr indent="0" marL="0">
              <a:buNone/>
            </a:pPr>
            <a:r>
              <a:rPr lang="en-US" sz="1300" b="1" dirty="0">
                <a:solidFill>
                  <a:schemeClr val="accent6"/>
                </a:solidFill>
                <a:latin typeface="Courier New" pitchFamily="34" charset="0"/>
                <a:ea typeface="Courier New" pitchFamily="34" charset="-122"/>
                <a:cs typeface="Courier New" pitchFamily="34" charset="-120"/>
              </a:rPr>
              <a:t>u' = u + r(N+S+E+W-4u), r = 0.2</a:t>
            </a:r>
            <a:endParaRPr lang="en-US" sz="1300" dirty="0"/>
          </a:p>
        </p:txBody>
      </p:sp>
      <p:sp>
        <p:nvSpPr>
          <p:cNvPr id="23" name="Text 21"/>
          <p:cNvSpPr txBox="1"/>
          <p:nvPr/>
        </p:nvSpPr>
        <p:spPr>
          <a:xfrm>
            <a:off x="731520" y="3886200"/>
            <a:ext cx="3337560" cy="548640"/>
          </a:xfrm>
          <a:prstGeom prst="rect">
            <a:avLst/>
          </a:prstGeom>
          <a:noFill/>
          <a:ln/>
        </p:spPr>
        <p:txBody>
          <a:bodyPr wrap="square" lIns="0" tIns="0" rIns="0" bIns="0" rtlCol="0" anchor="t"/>
          <a:lstStyle/>
          <a:p>
            <a:pPr indent="0" marL="0">
              <a:buNone/>
            </a:pPr>
            <a:r>
              <a:rPr lang="en-US" sz="1100" dirty="0">
                <a:solidFill>
                  <a:schemeClr val="tx2"/>
                </a:solidFill>
              </a:rPr>
              <a:t>Five-point FTCS stencil shared by all five variants. The sequential baseline imports no MPI, so MPI overhead stays visible.</a:t>
            </a:r>
            <a:endParaRPr lang="en-US" sz="1100" dirty="0"/>
          </a:p>
        </p:txBody>
      </p:sp>
      <p:sp>
        <p:nvSpPr>
          <p:cNvPr id="24" name="Text 22"/>
          <p:cNvSpPr txBox="1"/>
          <p:nvPr/>
        </p:nvSpPr>
        <p:spPr>
          <a:xfrm>
            <a:off x="4572000" y="1143000"/>
            <a:ext cx="4023360" cy="274320"/>
          </a:xfrm>
          <a:prstGeom prst="rect">
            <a:avLst/>
          </a:prstGeom>
          <a:noFill/>
          <a:ln/>
        </p:spPr>
        <p:txBody>
          <a:bodyPr wrap="square" lIns="0" tIns="0" rIns="0" bIns="0" rtlCol="0" anchor="t"/>
          <a:lstStyle/>
          <a:p>
            <a:pPr indent="0" marL="0">
              <a:buNone/>
            </a:pPr>
            <a:r>
              <a:rPr lang="en-US" sz="1500" b="1" dirty="0">
                <a:solidFill>
                  <a:schemeClr val="accent6"/>
                </a:solidFill>
              </a:rPr>
              <a:t>Non-blocking step</a:t>
            </a:r>
            <a:endParaRPr lang="en-US" sz="1500" dirty="0"/>
          </a:p>
        </p:txBody>
      </p:sp>
      <p:sp>
        <p:nvSpPr>
          <p:cNvPr id="25" name="dot1"/>
          <p:cNvSpPr/>
          <p:nvPr/>
        </p:nvSpPr>
        <p:spPr>
          <a:xfrm>
            <a:off x="4572000" y="1554480"/>
            <a:ext cx="329184" cy="329184"/>
          </a:xfrm>
          <a:prstGeom prst="ellipse">
            <a:avLst/>
          </a:prstGeom>
          <a:solidFill>
            <a:schemeClr val="accent1"/>
          </a:solidFill>
          <a:ln/>
        </p:spPr>
      </p:sp>
      <p:sp>
        <p:nvSpPr>
          <p:cNvPr id="26" name="Text 24"/>
          <p:cNvSpPr txBox="1"/>
          <p:nvPr/>
        </p:nvSpPr>
        <p:spPr>
          <a:xfrm>
            <a:off x="4572000" y="15544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7" name="Text 25"/>
          <p:cNvSpPr txBox="1"/>
          <p:nvPr/>
        </p:nvSpPr>
        <p:spPr>
          <a:xfrm>
            <a:off x="5029200" y="1554480"/>
            <a:ext cx="3566160" cy="329184"/>
          </a:xfrm>
          <a:prstGeom prst="rect">
            <a:avLst/>
          </a:prstGeom>
          <a:noFill/>
          <a:ln/>
        </p:spPr>
        <p:txBody>
          <a:bodyPr wrap="square" lIns="0" tIns="0" rIns="0" bIns="0" rtlCol="0" anchor="ctr"/>
          <a:lstStyle/>
          <a:p>
            <a:pPr indent="0" marL="0">
              <a:buNone/>
            </a:pPr>
            <a:r>
              <a:rPr lang="en-US" sz="1300" dirty="0">
                <a:solidFill>
                  <a:schemeClr val="tx1"/>
                </a:solidFill>
              </a:rPr>
              <a:t>Post Irecv and Isend for each halo</a:t>
            </a:r>
            <a:endParaRPr lang="en-US" sz="1300" dirty="0"/>
          </a:p>
        </p:txBody>
      </p:sp>
      <p:sp>
        <p:nvSpPr>
          <p:cNvPr id="28" name="dot2"/>
          <p:cNvSpPr/>
          <p:nvPr/>
        </p:nvSpPr>
        <p:spPr>
          <a:xfrm>
            <a:off x="4572000" y="2029968"/>
            <a:ext cx="329184" cy="329184"/>
          </a:xfrm>
          <a:prstGeom prst="ellipse">
            <a:avLst/>
          </a:prstGeom>
          <a:solidFill>
            <a:schemeClr val="accent2"/>
          </a:solidFill>
          <a:ln/>
        </p:spPr>
      </p:sp>
      <p:sp>
        <p:nvSpPr>
          <p:cNvPr id="29" name="Text 27"/>
          <p:cNvSpPr txBox="1"/>
          <p:nvPr/>
        </p:nvSpPr>
        <p:spPr>
          <a:xfrm>
            <a:off x="4572000" y="20299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0" name="Text 28"/>
          <p:cNvSpPr txBox="1"/>
          <p:nvPr/>
        </p:nvSpPr>
        <p:spPr>
          <a:xfrm>
            <a:off x="5029200" y="2029968"/>
            <a:ext cx="3566160" cy="329184"/>
          </a:xfrm>
          <a:prstGeom prst="rect">
            <a:avLst/>
          </a:prstGeom>
          <a:noFill/>
          <a:ln/>
        </p:spPr>
        <p:txBody>
          <a:bodyPr wrap="square" lIns="0" tIns="0" rIns="0" bIns="0" rtlCol="0" anchor="ctr"/>
          <a:lstStyle/>
          <a:p>
            <a:pPr indent="0" marL="0">
              <a:buNone/>
            </a:pPr>
            <a:r>
              <a:rPr lang="en-US" sz="1300" dirty="0">
                <a:solidFill>
                  <a:schemeClr val="tx1"/>
                </a:solidFill>
              </a:rPr>
              <a:t>Update interior cells while data moves</a:t>
            </a:r>
            <a:endParaRPr lang="en-US" sz="1300" dirty="0"/>
          </a:p>
        </p:txBody>
      </p:sp>
      <p:sp>
        <p:nvSpPr>
          <p:cNvPr id="31" name="dot3"/>
          <p:cNvSpPr/>
          <p:nvPr/>
        </p:nvSpPr>
        <p:spPr>
          <a:xfrm>
            <a:off x="4572000" y="2505456"/>
            <a:ext cx="329184" cy="329184"/>
          </a:xfrm>
          <a:prstGeom prst="ellipse">
            <a:avLst/>
          </a:prstGeom>
          <a:solidFill>
            <a:schemeClr val="accent1"/>
          </a:solidFill>
          <a:ln/>
        </p:spPr>
      </p:sp>
      <p:sp>
        <p:nvSpPr>
          <p:cNvPr id="32" name="Text 30"/>
          <p:cNvSpPr txBox="1"/>
          <p:nvPr/>
        </p:nvSpPr>
        <p:spPr>
          <a:xfrm>
            <a:off x="4572000" y="250545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31"/>
          <p:cNvSpPr txBox="1"/>
          <p:nvPr/>
        </p:nvSpPr>
        <p:spPr>
          <a:xfrm>
            <a:off x="5029200" y="2505456"/>
            <a:ext cx="3566160" cy="329184"/>
          </a:xfrm>
          <a:prstGeom prst="rect">
            <a:avLst/>
          </a:prstGeom>
          <a:noFill/>
          <a:ln/>
        </p:spPr>
        <p:txBody>
          <a:bodyPr wrap="square" lIns="0" tIns="0" rIns="0" bIns="0" rtlCol="0" anchor="ctr"/>
          <a:lstStyle/>
          <a:p>
            <a:pPr indent="0" marL="0">
              <a:buNone/>
            </a:pPr>
            <a:r>
              <a:rPr lang="en-US" sz="1300" dirty="0">
                <a:solidFill>
                  <a:schemeClr val="tx1"/>
                </a:solidFill>
              </a:rPr>
              <a:t>Waitall for the halo transfers</a:t>
            </a:r>
            <a:endParaRPr lang="en-US" sz="1300" dirty="0"/>
          </a:p>
        </p:txBody>
      </p:sp>
      <p:sp>
        <p:nvSpPr>
          <p:cNvPr id="34" name="dot4"/>
          <p:cNvSpPr/>
          <p:nvPr/>
        </p:nvSpPr>
        <p:spPr>
          <a:xfrm>
            <a:off x="4572000" y="2980944"/>
            <a:ext cx="329184" cy="329184"/>
          </a:xfrm>
          <a:prstGeom prst="ellipse">
            <a:avLst/>
          </a:prstGeom>
          <a:solidFill>
            <a:schemeClr val="accent1"/>
          </a:solidFill>
          <a:ln/>
        </p:spPr>
      </p:sp>
      <p:sp>
        <p:nvSpPr>
          <p:cNvPr id="35" name="Text 33"/>
          <p:cNvSpPr txBox="1"/>
          <p:nvPr/>
        </p:nvSpPr>
        <p:spPr>
          <a:xfrm>
            <a:off x="4572000" y="298094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6" name="Text 34"/>
          <p:cNvSpPr txBox="1"/>
          <p:nvPr/>
        </p:nvSpPr>
        <p:spPr>
          <a:xfrm>
            <a:off x="5029200" y="2980944"/>
            <a:ext cx="3566160" cy="329184"/>
          </a:xfrm>
          <a:prstGeom prst="rect">
            <a:avLst/>
          </a:prstGeom>
          <a:noFill/>
          <a:ln/>
        </p:spPr>
        <p:txBody>
          <a:bodyPr wrap="square" lIns="0" tIns="0" rIns="0" bIns="0" rtlCol="0" anchor="ctr"/>
          <a:lstStyle/>
          <a:p>
            <a:pPr indent="0" marL="0">
              <a:buNone/>
            </a:pPr>
            <a:r>
              <a:rPr lang="en-US" sz="1300" dirty="0">
                <a:solidFill>
                  <a:schemeClr val="tx1"/>
                </a:solidFill>
              </a:rPr>
              <a:t>Update edge strips, swap buffers</a:t>
            </a:r>
            <a:endParaRPr lang="en-US" sz="1300" dirty="0"/>
          </a:p>
        </p:txBody>
      </p:sp>
      <p:sp>
        <p:nvSpPr>
          <p:cNvPr id="37" name="Text 35"/>
          <p:cNvSpPr txBox="1"/>
          <p:nvPr/>
        </p:nvSpPr>
        <p:spPr>
          <a:xfrm>
            <a:off x="4572000" y="3520440"/>
            <a:ext cx="4023360" cy="1005840"/>
          </a:xfrm>
          <a:prstGeom prst="rect">
            <a:avLst/>
          </a:prstGeom>
          <a:noFill/>
          <a:ln/>
        </p:spPr>
        <p:txBody>
          <a:bodyPr wrap="square" lIns="0" tIns="0" rIns="0" bIns="0" rtlCol="0" anchor="t"/>
          <a:lstStyle/>
          <a:p>
            <a:pPr indent="0" marL="0">
              <a:spcAft>
                <a:spcPts val="400"/>
              </a:spcAft>
              <a:buNone/>
            </a:pPr>
            <a:r>
              <a:rPr lang="en-US" sz="1100" b="1" dirty="0">
                <a:solidFill>
                  <a:schemeClr val="tx1"/>
                </a:solidFill>
              </a:rPr>
              <a:t>Blocking: </a:t>
            </a:r>
            <a:pPr indent="0" marL="0">
              <a:spcAft>
                <a:spcPts val="400"/>
              </a:spcAft>
              <a:buNone/>
            </a:pPr>
            <a:r>
              <a:rPr lang="en-US" sz="1100" dirty="0">
                <a:solidFill>
                  <a:schemeClr val="tx2"/>
                </a:solidFill>
              </a:rPr>
              <a:t>Sendrecv per neighbour (2 slab, 4 Cartesian). Columns use an MPI vector datatype. No corner exchange needed.</a:t>
            </a:r>
            <a:endParaRPr lang="en-US" sz="1100" dirty="0"/>
          </a:p>
          <a:p>
            <a:pPr indent="0" marL="0">
              <a:spcAft>
                <a:spcPts val="400"/>
              </a:spcAft>
              <a:buNone/>
            </a:pPr>
            <a:r>
              <a:rPr lang="en-US" sz="1100" b="1" dirty="0">
                <a:solidFill>
                  <a:schemeClr val="tx1"/>
                </a:solidFill>
              </a:rPr>
              <a:t>Timing: </a:t>
            </a:r>
            <a:pPr indent="0" marL="0">
              <a:spcAft>
                <a:spcPts val="400"/>
              </a:spcAft>
              <a:buNone/>
            </a:pPr>
            <a:r>
              <a:rPr lang="en-US" sz="1100" dirty="0">
                <a:solidFill>
                  <a:schemeClr val="tx2"/>
                </a:solidFill>
              </a:rPr>
              <a:t>Barrier, then MPI.Wtime around the step loop only, max over ranks.</a:t>
            </a:r>
            <a:endParaRPr lang="en-US" sz="11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749808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Experimental setup</a:t>
            </a:r>
            <a:endParaRPr lang="en-US" sz="2800" dirty="0"/>
          </a:p>
        </p:txBody>
      </p:sp>
      <p:sp>
        <p:nvSpPr>
          <p:cNvPr id="3" name="setup0"/>
          <p:cNvSpPr/>
          <p:nvPr/>
        </p:nvSpPr>
        <p:spPr>
          <a:xfrm>
            <a:off x="548640" y="1097280"/>
            <a:ext cx="2560320" cy="1280160"/>
          </a:xfrm>
          <a:prstGeom prst="roundRect">
            <a:avLst>
              <a:gd name="adj" fmla="val 5714"/>
            </a:avLst>
          </a:prstGeom>
          <a:solidFill>
            <a:schemeClr val="bg2"/>
          </a:solidFill>
          <a:ln/>
        </p:spPr>
      </p:sp>
      <p:sp>
        <p:nvSpPr>
          <p:cNvPr id="4" name="Text 2"/>
          <p:cNvSpPr txBox="1"/>
          <p:nvPr/>
        </p:nvSpPr>
        <p:spPr>
          <a:xfrm>
            <a:off x="749808" y="1252728"/>
            <a:ext cx="2194560" cy="274320"/>
          </a:xfrm>
          <a:prstGeom prst="rect">
            <a:avLst/>
          </a:prstGeom>
          <a:noFill/>
          <a:ln/>
        </p:spPr>
        <p:txBody>
          <a:bodyPr wrap="square" lIns="0" tIns="0" rIns="0" bIns="0" rtlCol="0" anchor="t"/>
          <a:lstStyle/>
          <a:p>
            <a:pPr indent="0" marL="0">
              <a:buNone/>
            </a:pPr>
            <a:r>
              <a:rPr lang="en-US" sz="1400" b="1" dirty="0">
                <a:solidFill>
                  <a:schemeClr val="accent6"/>
                </a:solidFill>
              </a:rPr>
              <a:t>Hardware</a:t>
            </a:r>
            <a:endParaRPr lang="en-US" sz="1400" dirty="0"/>
          </a:p>
        </p:txBody>
      </p:sp>
      <p:sp>
        <p:nvSpPr>
          <p:cNvPr id="5" name="Text 3"/>
          <p:cNvSpPr txBox="1"/>
          <p:nvPr/>
        </p:nvSpPr>
        <p:spPr>
          <a:xfrm>
            <a:off x="749808" y="1554480"/>
            <a:ext cx="2194560" cy="777240"/>
          </a:xfrm>
          <a:prstGeom prst="rect">
            <a:avLst/>
          </a:prstGeom>
          <a:noFill/>
          <a:ln/>
        </p:spPr>
        <p:txBody>
          <a:bodyPr wrap="square" lIns="0" tIns="0" rIns="0" bIns="0" rtlCol="0" anchor="t"/>
          <a:lstStyle/>
          <a:p>
            <a:pPr indent="0" marL="0">
              <a:buNone/>
            </a:pPr>
            <a:r>
              <a:rPr lang="en-US" sz="1100" dirty="0">
                <a:solidFill>
                  <a:schemeClr val="tx2"/>
                </a:solidFill>
              </a:rPr>
              <a:t>Intel Core i5-7360U, 2 physical / 4 logical cores, 8 GB RAM, macOS 13. All communication is intra-node.</a:t>
            </a:r>
            <a:endParaRPr lang="en-US" sz="1100" dirty="0"/>
          </a:p>
        </p:txBody>
      </p:sp>
      <p:sp>
        <p:nvSpPr>
          <p:cNvPr id="6" name="setup1"/>
          <p:cNvSpPr/>
          <p:nvPr/>
        </p:nvSpPr>
        <p:spPr>
          <a:xfrm>
            <a:off x="3291840" y="1097280"/>
            <a:ext cx="2560320" cy="1280160"/>
          </a:xfrm>
          <a:prstGeom prst="roundRect">
            <a:avLst>
              <a:gd name="adj" fmla="val 5714"/>
            </a:avLst>
          </a:prstGeom>
          <a:solidFill>
            <a:schemeClr val="bg2"/>
          </a:solidFill>
          <a:ln/>
        </p:spPr>
      </p:sp>
      <p:sp>
        <p:nvSpPr>
          <p:cNvPr id="7" name="Text 5"/>
          <p:cNvSpPr txBox="1"/>
          <p:nvPr/>
        </p:nvSpPr>
        <p:spPr>
          <a:xfrm>
            <a:off x="3493008" y="1252728"/>
            <a:ext cx="2194560" cy="274320"/>
          </a:xfrm>
          <a:prstGeom prst="rect">
            <a:avLst/>
          </a:prstGeom>
          <a:noFill/>
          <a:ln/>
        </p:spPr>
        <p:txBody>
          <a:bodyPr wrap="square" lIns="0" tIns="0" rIns="0" bIns="0" rtlCol="0" anchor="t"/>
          <a:lstStyle/>
          <a:p>
            <a:pPr indent="0" marL="0">
              <a:buNone/>
            </a:pPr>
            <a:r>
              <a:rPr lang="en-US" sz="1400" b="1" dirty="0">
                <a:solidFill>
                  <a:schemeClr val="accent6"/>
                </a:solidFill>
              </a:rPr>
              <a:t>Software</a:t>
            </a:r>
            <a:endParaRPr lang="en-US" sz="1400" dirty="0"/>
          </a:p>
        </p:txBody>
      </p:sp>
      <p:sp>
        <p:nvSpPr>
          <p:cNvPr id="8" name="Text 6"/>
          <p:cNvSpPr txBox="1"/>
          <p:nvPr/>
        </p:nvSpPr>
        <p:spPr>
          <a:xfrm>
            <a:off x="3493008" y="1554480"/>
            <a:ext cx="2194560" cy="777240"/>
          </a:xfrm>
          <a:prstGeom prst="rect">
            <a:avLst/>
          </a:prstGeom>
          <a:noFill/>
          <a:ln/>
        </p:spPr>
        <p:txBody>
          <a:bodyPr wrap="square" lIns="0" tIns="0" rIns="0" bIns="0" rtlCol="0" anchor="t"/>
          <a:lstStyle/>
          <a:p>
            <a:pPr indent="0" marL="0">
              <a:buNone/>
            </a:pPr>
            <a:r>
              <a:rPr lang="en-US" sz="1100" dirty="0">
                <a:solidFill>
                  <a:schemeClr val="tx2"/>
                </a:solidFill>
              </a:rPr>
              <a:t>Python 3.11, NumPy 2.4.6, mpi4py 4.1.2, MPICH 4.3.2, matplotlib 3.11.</a:t>
            </a:r>
            <a:endParaRPr lang="en-US" sz="1100" dirty="0"/>
          </a:p>
        </p:txBody>
      </p:sp>
      <p:sp>
        <p:nvSpPr>
          <p:cNvPr id="9" name="setup2"/>
          <p:cNvSpPr/>
          <p:nvPr/>
        </p:nvSpPr>
        <p:spPr>
          <a:xfrm>
            <a:off x="6035040" y="1097280"/>
            <a:ext cx="2560320" cy="1280160"/>
          </a:xfrm>
          <a:prstGeom prst="roundRect">
            <a:avLst>
              <a:gd name="adj" fmla="val 5714"/>
            </a:avLst>
          </a:prstGeom>
          <a:solidFill>
            <a:schemeClr val="bg2"/>
          </a:solidFill>
          <a:ln/>
        </p:spPr>
      </p:sp>
      <p:sp>
        <p:nvSpPr>
          <p:cNvPr id="10" name="Text 8"/>
          <p:cNvSpPr txBox="1"/>
          <p:nvPr/>
        </p:nvSpPr>
        <p:spPr>
          <a:xfrm>
            <a:off x="6236208" y="1252728"/>
            <a:ext cx="2194560" cy="274320"/>
          </a:xfrm>
          <a:prstGeom prst="rect">
            <a:avLst/>
          </a:prstGeom>
          <a:noFill/>
          <a:ln/>
        </p:spPr>
        <p:txBody>
          <a:bodyPr wrap="square" lIns="0" tIns="0" rIns="0" bIns="0" rtlCol="0" anchor="t"/>
          <a:lstStyle/>
          <a:p>
            <a:pPr indent="0" marL="0">
              <a:buNone/>
            </a:pPr>
            <a:r>
              <a:rPr lang="en-US" sz="1400" b="1" dirty="0">
                <a:solidFill>
                  <a:schemeClr val="accent6"/>
                </a:solidFill>
              </a:rPr>
              <a:t>Inputs</a:t>
            </a:r>
            <a:endParaRPr lang="en-US" sz="1400" dirty="0"/>
          </a:p>
        </p:txBody>
      </p:sp>
      <p:sp>
        <p:nvSpPr>
          <p:cNvPr id="11" name="Text 9"/>
          <p:cNvSpPr txBox="1"/>
          <p:nvPr/>
        </p:nvSpPr>
        <p:spPr>
          <a:xfrm>
            <a:off x="6236208" y="1554480"/>
            <a:ext cx="2194560" cy="777240"/>
          </a:xfrm>
          <a:prstGeom prst="rect">
            <a:avLst/>
          </a:prstGeom>
          <a:noFill/>
          <a:ln/>
        </p:spPr>
        <p:txBody>
          <a:bodyPr wrap="square" lIns="0" tIns="0" rIns="0" bIns="0" rtlCol="0" anchor="t"/>
          <a:lstStyle/>
          <a:p>
            <a:pPr indent="0" marL="0">
              <a:buNone/>
            </a:pPr>
            <a:r>
              <a:rPr lang="en-US" sz="1100" dirty="0">
                <a:solidFill>
                  <a:schemeClr val="tx2"/>
                </a:solidFill>
              </a:rPr>
              <a:t>Seeded synthetic fields: uniform, single hotspot, multiple hotspots, gradient, plus decaying sine for validation.</a:t>
            </a:r>
            <a:endParaRPr lang="en-US" sz="1100" dirty="0"/>
          </a:p>
        </p:txBody>
      </p:sp>
      <p:sp>
        <p:nvSpPr>
          <p:cNvPr id="12" name="setup3"/>
          <p:cNvSpPr/>
          <p:nvPr/>
        </p:nvSpPr>
        <p:spPr>
          <a:xfrm>
            <a:off x="548640" y="2560320"/>
            <a:ext cx="2560320" cy="1280160"/>
          </a:xfrm>
          <a:prstGeom prst="roundRect">
            <a:avLst>
              <a:gd name="adj" fmla="val 5714"/>
            </a:avLst>
          </a:prstGeom>
          <a:solidFill>
            <a:schemeClr val="bg2"/>
          </a:solidFill>
          <a:ln/>
        </p:spPr>
      </p:sp>
      <p:sp>
        <p:nvSpPr>
          <p:cNvPr id="13" name="Text 11"/>
          <p:cNvSpPr txBox="1"/>
          <p:nvPr/>
        </p:nvSpPr>
        <p:spPr>
          <a:xfrm>
            <a:off x="749808" y="2715768"/>
            <a:ext cx="2194560" cy="274320"/>
          </a:xfrm>
          <a:prstGeom prst="rect">
            <a:avLst/>
          </a:prstGeom>
          <a:noFill/>
          <a:ln/>
        </p:spPr>
        <p:txBody>
          <a:bodyPr wrap="square" lIns="0" tIns="0" rIns="0" bIns="0" rtlCol="0" anchor="t"/>
          <a:lstStyle/>
          <a:p>
            <a:pPr indent="0" marL="0">
              <a:buNone/>
            </a:pPr>
            <a:r>
              <a:rPr lang="en-US" sz="1400" b="1" dirty="0">
                <a:solidFill>
                  <a:schemeClr val="accent6"/>
                </a:solidFill>
              </a:rPr>
              <a:t>Sweeps</a:t>
            </a:r>
            <a:endParaRPr lang="en-US" sz="1400" dirty="0"/>
          </a:p>
        </p:txBody>
      </p:sp>
      <p:sp>
        <p:nvSpPr>
          <p:cNvPr id="14" name="Text 12"/>
          <p:cNvSpPr txBox="1"/>
          <p:nvPr/>
        </p:nvSpPr>
        <p:spPr>
          <a:xfrm>
            <a:off x="749808" y="3017520"/>
            <a:ext cx="2194560" cy="777240"/>
          </a:xfrm>
          <a:prstGeom prst="rect">
            <a:avLst/>
          </a:prstGeom>
          <a:noFill/>
          <a:ln/>
        </p:spPr>
        <p:txBody>
          <a:bodyPr wrap="square" lIns="0" tIns="0" rIns="0" bIns="0" rtlCol="0" anchor="t"/>
          <a:lstStyle/>
          <a:p>
            <a:pPr indent="0" marL="0">
              <a:buNone/>
            </a:pPr>
            <a:r>
              <a:rPr lang="en-US" sz="1100" dirty="0">
                <a:solidFill>
                  <a:schemeClr val="tx2"/>
                </a:solidFill>
              </a:rPr>
              <a:t>Scaling: 500², 1000², 2000² at 1, 2, 4 processes, 4 variants plus sequential. Scenarios: 1000², 2 processes.</a:t>
            </a:r>
            <a:endParaRPr lang="en-US" sz="1100" dirty="0"/>
          </a:p>
        </p:txBody>
      </p:sp>
      <p:sp>
        <p:nvSpPr>
          <p:cNvPr id="15" name="setup4"/>
          <p:cNvSpPr/>
          <p:nvPr/>
        </p:nvSpPr>
        <p:spPr>
          <a:xfrm>
            <a:off x="3291840" y="2560320"/>
            <a:ext cx="2560320" cy="1280160"/>
          </a:xfrm>
          <a:prstGeom prst="roundRect">
            <a:avLst>
              <a:gd name="adj" fmla="val 5714"/>
            </a:avLst>
          </a:prstGeom>
          <a:solidFill>
            <a:schemeClr val="bg2"/>
          </a:solidFill>
          <a:ln/>
        </p:spPr>
      </p:sp>
      <p:sp>
        <p:nvSpPr>
          <p:cNvPr id="16" name="Text 14"/>
          <p:cNvSpPr txBox="1"/>
          <p:nvPr/>
        </p:nvSpPr>
        <p:spPr>
          <a:xfrm>
            <a:off x="3493008" y="2715768"/>
            <a:ext cx="2194560" cy="274320"/>
          </a:xfrm>
          <a:prstGeom prst="rect">
            <a:avLst/>
          </a:prstGeom>
          <a:noFill/>
          <a:ln/>
        </p:spPr>
        <p:txBody>
          <a:bodyPr wrap="square" lIns="0" tIns="0" rIns="0" bIns="0" rtlCol="0" anchor="t"/>
          <a:lstStyle/>
          <a:p>
            <a:pPr indent="0" marL="0">
              <a:buNone/>
            </a:pPr>
            <a:r>
              <a:rPr lang="en-US" sz="1400" b="1" dirty="0">
                <a:solidFill>
                  <a:schemeClr val="accent6"/>
                </a:solidFill>
              </a:rPr>
              <a:t>Protocol</a:t>
            </a:r>
            <a:endParaRPr lang="en-US" sz="1400" dirty="0"/>
          </a:p>
        </p:txBody>
      </p:sp>
      <p:sp>
        <p:nvSpPr>
          <p:cNvPr id="17" name="Text 15"/>
          <p:cNvSpPr txBox="1"/>
          <p:nvPr/>
        </p:nvSpPr>
        <p:spPr>
          <a:xfrm>
            <a:off x="3493008" y="3017520"/>
            <a:ext cx="2194560" cy="777240"/>
          </a:xfrm>
          <a:prstGeom prst="rect">
            <a:avLst/>
          </a:prstGeom>
          <a:noFill/>
          <a:ln/>
        </p:spPr>
        <p:txBody>
          <a:bodyPr wrap="square" lIns="0" tIns="0" rIns="0" bIns="0" rtlCol="0" anchor="t"/>
          <a:lstStyle/>
          <a:p>
            <a:pPr indent="0" marL="0">
              <a:buNone/>
            </a:pPr>
            <a:r>
              <a:rPr lang="en-US" sz="1100" dirty="0">
                <a:solidFill>
                  <a:schemeClr val="tx2"/>
                </a:solidFill>
              </a:rPr>
              <a:t>200 steps, 1 warm-up and 5 trials, median and IQR. 54 configurations, 324 runs, 0 failed, shuffled order.</a:t>
            </a:r>
            <a:endParaRPr lang="en-US" sz="1100" dirty="0"/>
          </a:p>
        </p:txBody>
      </p:sp>
      <p:sp>
        <p:nvSpPr>
          <p:cNvPr id="18" name="setup5"/>
          <p:cNvSpPr/>
          <p:nvPr/>
        </p:nvSpPr>
        <p:spPr>
          <a:xfrm>
            <a:off x="6035040" y="2560320"/>
            <a:ext cx="2560320" cy="1280160"/>
          </a:xfrm>
          <a:prstGeom prst="roundRect">
            <a:avLst>
              <a:gd name="adj" fmla="val 5714"/>
            </a:avLst>
          </a:prstGeom>
          <a:solidFill>
            <a:schemeClr val="bg2"/>
          </a:solidFill>
          <a:ln/>
        </p:spPr>
      </p:sp>
      <p:sp>
        <p:nvSpPr>
          <p:cNvPr id="19" name="Text 17"/>
          <p:cNvSpPr txBox="1"/>
          <p:nvPr/>
        </p:nvSpPr>
        <p:spPr>
          <a:xfrm>
            <a:off x="6236208" y="2715768"/>
            <a:ext cx="2194560" cy="274320"/>
          </a:xfrm>
          <a:prstGeom prst="rect">
            <a:avLst/>
          </a:prstGeom>
          <a:noFill/>
          <a:ln/>
        </p:spPr>
        <p:txBody>
          <a:bodyPr wrap="square" lIns="0" tIns="0" rIns="0" bIns="0" rtlCol="0" anchor="t"/>
          <a:lstStyle/>
          <a:p>
            <a:pPr indent="0" marL="0">
              <a:buNone/>
            </a:pPr>
            <a:r>
              <a:rPr lang="en-US" sz="1400" b="1" dirty="0">
                <a:solidFill>
                  <a:schemeClr val="accent6"/>
                </a:solidFill>
              </a:rPr>
              <a:t>Correctness</a:t>
            </a:r>
            <a:endParaRPr lang="en-US" sz="1400" dirty="0"/>
          </a:p>
        </p:txBody>
      </p:sp>
      <p:sp>
        <p:nvSpPr>
          <p:cNvPr id="20" name="Text 18"/>
          <p:cNvSpPr txBox="1"/>
          <p:nvPr/>
        </p:nvSpPr>
        <p:spPr>
          <a:xfrm>
            <a:off x="6236208" y="3017520"/>
            <a:ext cx="2194560" cy="777240"/>
          </a:xfrm>
          <a:prstGeom prst="rect">
            <a:avLst/>
          </a:prstGeom>
          <a:noFill/>
          <a:ln/>
        </p:spPr>
        <p:txBody>
          <a:bodyPr wrap="square" lIns="0" tIns="0" rIns="0" bIns="0" rtlCol="0" anchor="t"/>
          <a:lstStyle/>
          <a:p>
            <a:pPr indent="0" marL="0">
              <a:buNone/>
            </a:pPr>
            <a:r>
              <a:rPr lang="en-US" sz="1100" dirty="0">
                <a:solidFill>
                  <a:schemeClr val="tx2"/>
                </a:solidFill>
              </a:rPr>
              <a:t>Error vs sequential must be at most 1e-12 before every timed run, plus checksums and 14 automated tests.</a:t>
            </a:r>
            <a:endParaRPr lang="en-US" sz="1100" dirty="0"/>
          </a:p>
        </p:txBody>
      </p:sp>
      <p:sp>
        <p:nvSpPr>
          <p:cNvPr id="21" name="warn"/>
          <p:cNvSpPr/>
          <p:nvPr/>
        </p:nvSpPr>
        <p:spPr>
          <a:xfrm>
            <a:off x="548640" y="4160520"/>
            <a:ext cx="146304" cy="146304"/>
          </a:xfrm>
          <a:prstGeom prst="ellipse">
            <a:avLst/>
          </a:prstGeom>
          <a:solidFill>
            <a:schemeClr val="accent2"/>
          </a:solidFill>
          <a:ln/>
        </p:spPr>
      </p:sp>
      <p:sp>
        <p:nvSpPr>
          <p:cNvPr id="22" name="Text 20"/>
          <p:cNvSpPr txBox="1"/>
          <p:nvPr/>
        </p:nvSpPr>
        <p:spPr>
          <a:xfrm>
            <a:off x="822960" y="4096512"/>
            <a:ext cx="7772400" cy="274320"/>
          </a:xfrm>
          <a:prstGeom prst="rect">
            <a:avLst/>
          </a:prstGeom>
          <a:noFill/>
          <a:ln/>
        </p:spPr>
        <p:txBody>
          <a:bodyPr wrap="square" lIns="0" tIns="0" rIns="0" bIns="0" rtlCol="0" anchor="ctr"/>
          <a:lstStyle/>
          <a:p>
            <a:pPr indent="0" marL="0">
              <a:buNone/>
            </a:pPr>
            <a:r>
              <a:rPr lang="en-US" sz="1200" b="1" dirty="0">
                <a:solidFill>
                  <a:schemeClr val="tx1"/>
                </a:solidFill>
              </a:rPr>
              <a:t>4 processes on 2 cores is oversubscribed. These runs are flagged and not used as scaling evidence.</a:t>
            </a:r>
            <a:endParaRPr lang="en-US" sz="12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749808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Working prototype demonstration</a:t>
            </a:r>
            <a:endParaRPr lang="en-US" sz="2800" dirty="0"/>
          </a:p>
        </p:txBody>
      </p:sp>
      <p:sp>
        <p:nvSpPr>
          <p:cNvPr id="3" name="track"/>
          <p:cNvSpPr/>
          <p:nvPr/>
        </p:nvSpPr>
        <p:spPr>
          <a:xfrm>
            <a:off x="822960" y="1481328"/>
            <a:ext cx="6309360" cy="0"/>
          </a:xfrm>
          <a:prstGeom prst="line">
            <a:avLst/>
          </a:prstGeom>
          <a:noFill/>
          <a:ln w="19050">
            <a:solidFill>
              <a:schemeClr val="accent5"/>
            </a:solidFill>
            <a:prstDash val="solid"/>
          </a:ln>
        </p:spPr>
      </p:sp>
      <p:sp>
        <p:nvSpPr>
          <p:cNvPr id="4" name="dot1"/>
          <p:cNvSpPr/>
          <p:nvPr/>
        </p:nvSpPr>
        <p:spPr>
          <a:xfrm>
            <a:off x="640080" y="1261872"/>
            <a:ext cx="438912" cy="438912"/>
          </a:xfrm>
          <a:prstGeom prst="ellipse">
            <a:avLst/>
          </a:prstGeom>
          <a:solidFill>
            <a:schemeClr val="accent1"/>
          </a:solidFill>
          <a:ln/>
        </p:spPr>
      </p:sp>
      <p:sp>
        <p:nvSpPr>
          <p:cNvPr id="5" name="Text 3"/>
          <p:cNvSpPr txBox="1"/>
          <p:nvPr/>
        </p:nvSpPr>
        <p:spPr>
          <a:xfrm>
            <a:off x="640080" y="1261872"/>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548640" y="1874520"/>
            <a:ext cx="1783080" cy="320040"/>
          </a:xfrm>
          <a:prstGeom prst="rect">
            <a:avLst/>
          </a:prstGeom>
          <a:noFill/>
          <a:ln/>
        </p:spPr>
        <p:txBody>
          <a:bodyPr wrap="square" lIns="0" tIns="0" rIns="0" bIns="0" rtlCol="0" anchor="t"/>
          <a:lstStyle/>
          <a:p>
            <a:pPr indent="0" marL="0">
              <a:buNone/>
            </a:pPr>
            <a:r>
              <a:rPr lang="en-US" sz="1500" b="1" dirty="0">
                <a:solidFill>
                  <a:schemeClr val="tx1"/>
                </a:solidFill>
              </a:rPr>
              <a:t>Validate</a:t>
            </a:r>
            <a:endParaRPr lang="en-US" sz="1500" dirty="0"/>
          </a:p>
        </p:txBody>
      </p:sp>
      <p:sp>
        <p:nvSpPr>
          <p:cNvPr id="7" name="Text 5"/>
          <p:cNvSpPr txBox="1"/>
          <p:nvPr/>
        </p:nvSpPr>
        <p:spPr>
          <a:xfrm>
            <a:off x="548640" y="2240280"/>
            <a:ext cx="1783080" cy="1188720"/>
          </a:xfrm>
          <a:prstGeom prst="rect">
            <a:avLst/>
          </a:prstGeom>
          <a:noFill/>
          <a:ln/>
        </p:spPr>
        <p:txBody>
          <a:bodyPr wrap="square" lIns="0" tIns="0" rIns="0" bIns="0" rtlCol="0" anchor="t"/>
          <a:lstStyle/>
          <a:p>
            <a:pPr indent="0" marL="0">
              <a:buNone/>
            </a:pPr>
            <a:r>
              <a:rPr lang="en-US" sz="1200" dirty="0">
                <a:solidFill>
                  <a:schemeClr val="tx2"/>
                </a:solidFill>
              </a:rPr>
              <a:t>Analytic error ratio 4.00 (second order). All MPI variants match sequential with error 0.0.</a:t>
            </a:r>
            <a:endParaRPr lang="en-US" sz="1200" dirty="0"/>
          </a:p>
        </p:txBody>
      </p:sp>
      <p:sp>
        <p:nvSpPr>
          <p:cNvPr id="8" name="dot2"/>
          <p:cNvSpPr/>
          <p:nvPr/>
        </p:nvSpPr>
        <p:spPr>
          <a:xfrm>
            <a:off x="2743200" y="1261872"/>
            <a:ext cx="438912" cy="438912"/>
          </a:xfrm>
          <a:prstGeom prst="ellipse">
            <a:avLst/>
          </a:prstGeom>
          <a:solidFill>
            <a:schemeClr val="accent6"/>
          </a:solidFill>
          <a:ln/>
        </p:spPr>
      </p:sp>
      <p:sp>
        <p:nvSpPr>
          <p:cNvPr id="9" name="Text 7"/>
          <p:cNvSpPr txBox="1"/>
          <p:nvPr/>
        </p:nvSpPr>
        <p:spPr>
          <a:xfrm>
            <a:off x="2743200" y="1261872"/>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2651760" y="1874520"/>
            <a:ext cx="1783080" cy="320040"/>
          </a:xfrm>
          <a:prstGeom prst="rect">
            <a:avLst/>
          </a:prstGeom>
          <a:noFill/>
          <a:ln/>
        </p:spPr>
        <p:txBody>
          <a:bodyPr wrap="square" lIns="0" tIns="0" rIns="0" bIns="0" rtlCol="0" anchor="t"/>
          <a:lstStyle/>
          <a:p>
            <a:pPr indent="0" marL="0">
              <a:buNone/>
            </a:pPr>
            <a:r>
              <a:rPr lang="en-US" sz="1500" b="1" dirty="0">
                <a:solidFill>
                  <a:schemeClr val="tx1"/>
                </a:solidFill>
              </a:rPr>
              <a:t>Sequential vs MPI</a:t>
            </a:r>
            <a:endParaRPr lang="en-US" sz="1500" dirty="0"/>
          </a:p>
        </p:txBody>
      </p:sp>
      <p:sp>
        <p:nvSpPr>
          <p:cNvPr id="11" name="Text 9"/>
          <p:cNvSpPr txBox="1"/>
          <p:nvPr/>
        </p:nvSpPr>
        <p:spPr>
          <a:xfrm>
            <a:off x="2651760" y="2240280"/>
            <a:ext cx="1783080" cy="1188720"/>
          </a:xfrm>
          <a:prstGeom prst="rect">
            <a:avLst/>
          </a:prstGeom>
          <a:noFill/>
          <a:ln/>
        </p:spPr>
        <p:txBody>
          <a:bodyPr wrap="square" lIns="0" tIns="0" rIns="0" bIns="0" rtlCol="0" anchor="t"/>
          <a:lstStyle/>
          <a:p>
            <a:pPr indent="0" marL="0">
              <a:buNone/>
            </a:pPr>
            <a:r>
              <a:rPr lang="en-US" sz="1200" dirty="0">
                <a:solidFill>
                  <a:schemeClr val="tx2"/>
                </a:solidFill>
              </a:rPr>
              <a:t>1000², single hotspot, 100 steps: sequential vs 2-rank slab non-blocking.</a:t>
            </a:r>
            <a:endParaRPr lang="en-US" sz="1200" dirty="0"/>
          </a:p>
        </p:txBody>
      </p:sp>
      <p:sp>
        <p:nvSpPr>
          <p:cNvPr id="12" name="dot3"/>
          <p:cNvSpPr/>
          <p:nvPr/>
        </p:nvSpPr>
        <p:spPr>
          <a:xfrm>
            <a:off x="4846320" y="1261872"/>
            <a:ext cx="438912" cy="438912"/>
          </a:xfrm>
          <a:prstGeom prst="ellipse">
            <a:avLst/>
          </a:prstGeom>
          <a:solidFill>
            <a:schemeClr val="accent6"/>
          </a:solidFill>
          <a:ln/>
        </p:spPr>
      </p:sp>
      <p:sp>
        <p:nvSpPr>
          <p:cNvPr id="13" name="Text 11"/>
          <p:cNvSpPr txBox="1"/>
          <p:nvPr/>
        </p:nvSpPr>
        <p:spPr>
          <a:xfrm>
            <a:off x="4846320" y="1261872"/>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Text 12"/>
          <p:cNvSpPr txBox="1"/>
          <p:nvPr/>
        </p:nvSpPr>
        <p:spPr>
          <a:xfrm>
            <a:off x="4754880" y="1874520"/>
            <a:ext cx="1783080" cy="320040"/>
          </a:xfrm>
          <a:prstGeom prst="rect">
            <a:avLst/>
          </a:prstGeom>
          <a:noFill/>
          <a:ln/>
        </p:spPr>
        <p:txBody>
          <a:bodyPr wrap="square" lIns="0" tIns="0" rIns="0" bIns="0" rtlCol="0" anchor="t"/>
          <a:lstStyle/>
          <a:p>
            <a:pPr indent="0" marL="0">
              <a:buNone/>
            </a:pPr>
            <a:r>
              <a:rPr lang="en-US" sz="1500" b="1" dirty="0">
                <a:solidFill>
                  <a:schemeClr val="tx1"/>
                </a:solidFill>
              </a:rPr>
              <a:t>Compare</a:t>
            </a:r>
            <a:endParaRPr lang="en-US" sz="1500" dirty="0"/>
          </a:p>
        </p:txBody>
      </p:sp>
      <p:sp>
        <p:nvSpPr>
          <p:cNvPr id="15" name="Text 13"/>
          <p:cNvSpPr txBox="1"/>
          <p:nvPr/>
        </p:nvSpPr>
        <p:spPr>
          <a:xfrm>
            <a:off x="4754880" y="2240280"/>
            <a:ext cx="1783080" cy="1188720"/>
          </a:xfrm>
          <a:prstGeom prst="rect">
            <a:avLst/>
          </a:prstGeom>
          <a:noFill/>
          <a:ln/>
        </p:spPr>
        <p:txBody>
          <a:bodyPr wrap="square" lIns="0" tIns="0" rIns="0" bIns="0" rtlCol="0" anchor="t"/>
          <a:lstStyle/>
          <a:p>
            <a:pPr indent="0" marL="0">
              <a:buNone/>
            </a:pPr>
            <a:r>
              <a:rPr lang="en-US" sz="1200" dirty="0">
                <a:solidFill>
                  <a:schemeClr val="tx2"/>
                </a:solidFill>
              </a:rPr>
              <a:t>Slab blocking vs non-blocking (RQ2), then 4-rank Cartesian 2x2 (RQ1).</a:t>
            </a:r>
            <a:endParaRPr lang="en-US" sz="1200" dirty="0"/>
          </a:p>
        </p:txBody>
      </p:sp>
      <p:sp>
        <p:nvSpPr>
          <p:cNvPr id="16" name="dot4"/>
          <p:cNvSpPr/>
          <p:nvPr/>
        </p:nvSpPr>
        <p:spPr>
          <a:xfrm>
            <a:off x="6949440" y="1261872"/>
            <a:ext cx="438912" cy="438912"/>
          </a:xfrm>
          <a:prstGeom prst="ellipse">
            <a:avLst/>
          </a:prstGeom>
          <a:solidFill>
            <a:schemeClr val="accent2"/>
          </a:solidFill>
          <a:ln/>
        </p:spPr>
      </p:sp>
      <p:sp>
        <p:nvSpPr>
          <p:cNvPr id="17" name="Text 15"/>
          <p:cNvSpPr txBox="1"/>
          <p:nvPr/>
        </p:nvSpPr>
        <p:spPr>
          <a:xfrm>
            <a:off x="6949440" y="1261872"/>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6858000" y="1874520"/>
            <a:ext cx="1783080" cy="320040"/>
          </a:xfrm>
          <a:prstGeom prst="rect">
            <a:avLst/>
          </a:prstGeom>
          <a:noFill/>
          <a:ln/>
        </p:spPr>
        <p:txBody>
          <a:bodyPr wrap="square" lIns="0" tIns="0" rIns="0" bIns="0" rtlCol="0" anchor="t"/>
          <a:lstStyle/>
          <a:p>
            <a:pPr indent="0" marL="0">
              <a:buNone/>
            </a:pPr>
            <a:r>
              <a:rPr lang="en-US" sz="1500" b="1" dirty="0">
                <a:solidFill>
                  <a:schemeClr val="tx1"/>
                </a:solidFill>
              </a:rPr>
              <a:t>Pipeline</a:t>
            </a:r>
            <a:endParaRPr lang="en-US" sz="1500" dirty="0"/>
          </a:p>
        </p:txBody>
      </p:sp>
      <p:sp>
        <p:nvSpPr>
          <p:cNvPr id="19" name="Text 17"/>
          <p:cNvSpPr txBox="1"/>
          <p:nvPr/>
        </p:nvSpPr>
        <p:spPr>
          <a:xfrm>
            <a:off x="6858000" y="2240280"/>
            <a:ext cx="1783080" cy="1188720"/>
          </a:xfrm>
          <a:prstGeom prst="rect">
            <a:avLst/>
          </a:prstGeom>
          <a:noFill/>
          <a:ln/>
        </p:spPr>
        <p:txBody>
          <a:bodyPr wrap="square" lIns="0" tIns="0" rIns="0" bIns="0" rtlCol="0" anchor="t"/>
          <a:lstStyle/>
          <a:p>
            <a:pPr indent="0" marL="0">
              <a:buNone/>
            </a:pPr>
            <a:r>
              <a:rPr lang="en-US" sz="1200" dirty="0">
                <a:solidFill>
                  <a:schemeClr val="tx2"/>
                </a:solidFill>
              </a:rPr>
              <a:t>Config, raw CSV, then summarise, make figures and show results.</a:t>
            </a:r>
            <a:endParaRPr lang="en-US" sz="1200" dirty="0"/>
          </a:p>
        </p:txBody>
      </p:sp>
      <p:sp>
        <p:nvSpPr>
          <p:cNvPr id="20" name="demoNote"/>
          <p:cNvSpPr/>
          <p:nvPr/>
        </p:nvSpPr>
        <p:spPr>
          <a:xfrm>
            <a:off x="548640" y="3657600"/>
            <a:ext cx="8046720" cy="777240"/>
          </a:xfrm>
          <a:prstGeom prst="roundRect">
            <a:avLst>
              <a:gd name="adj" fmla="val 9412"/>
            </a:avLst>
          </a:prstGeom>
          <a:solidFill>
            <a:schemeClr val="bg2"/>
          </a:solidFill>
          <a:ln/>
        </p:spPr>
      </p:sp>
      <p:sp>
        <p:nvSpPr>
          <p:cNvPr id="21" name="Text 19"/>
          <p:cNvSpPr txBox="1"/>
          <p:nvPr/>
        </p:nvSpPr>
        <p:spPr>
          <a:xfrm>
            <a:off x="777240" y="3657600"/>
            <a:ext cx="7589520" cy="777240"/>
          </a:xfrm>
          <a:prstGeom prst="rect">
            <a:avLst/>
          </a:prstGeom>
          <a:noFill/>
          <a:ln/>
        </p:spPr>
        <p:txBody>
          <a:bodyPr wrap="square" lIns="0" tIns="0" rIns="0" bIns="0" rtlCol="0" anchor="ctr"/>
          <a:lstStyle/>
          <a:p>
            <a:pPr indent="0" marL="0">
              <a:buNone/>
            </a:pPr>
            <a:r>
              <a:rPr lang="en-US" sz="1300" b="1" dirty="0">
                <a:solidFill>
                  <a:schemeClr val="accent6"/>
                </a:solidFill>
              </a:rPr>
              <a:t>Demo machine: </a:t>
            </a:r>
            <a:pPr indent="0" marL="0">
              <a:buNone/>
            </a:pPr>
            <a:r>
              <a:rPr lang="en-US" sz="1300" dirty="0">
                <a:solidFill>
                  <a:schemeClr val="tx1"/>
                </a:solidFill>
              </a:rPr>
              <a:t>Apple M1 (8 cores), not the i5 used for the results. Demo timings are a functional check, not performance evidence.</a:t>
            </a:r>
            <a:endParaRPr lang="en-US" sz="13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749808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Results: correctness and speedup</a:t>
            </a:r>
            <a:endParaRPr lang="en-US" sz="2800" dirty="0"/>
          </a:p>
        </p:txBody>
      </p:sp>
      <p:sp>
        <p:nvSpPr>
          <p:cNvPr id="3" name="Text 1"/>
          <p:cNvSpPr txBox="1"/>
          <p:nvPr/>
        </p:nvSpPr>
        <p:spPr>
          <a:xfrm>
            <a:off x="548640" y="1097280"/>
            <a:ext cx="2743200" cy="548640"/>
          </a:xfrm>
          <a:prstGeom prst="rect">
            <a:avLst/>
          </a:prstGeom>
          <a:noFill/>
          <a:ln/>
        </p:spPr>
        <p:txBody>
          <a:bodyPr wrap="square" lIns="0" tIns="0" rIns="0" bIns="0" rtlCol="0" anchor="t"/>
          <a:lstStyle/>
          <a:p>
            <a:pPr indent="0" marL="0">
              <a:buNone/>
            </a:pPr>
            <a:r>
              <a:rPr lang="en-US" sz="3400" b="1" dirty="0">
                <a:solidFill>
                  <a:schemeClr val="accent6"/>
                </a:solidFill>
                <a:latin typeface="Arial" pitchFamily="34" charset="0"/>
                <a:ea typeface="Arial" pitchFamily="34" charset="-122"/>
                <a:cs typeface="Arial" pitchFamily="34" charset="-120"/>
              </a:rPr>
              <a:t>0.0</a:t>
            </a:r>
            <a:endParaRPr lang="en-US" sz="3400" dirty="0"/>
          </a:p>
        </p:txBody>
      </p:sp>
      <p:sp>
        <p:nvSpPr>
          <p:cNvPr id="4" name="Text 2"/>
          <p:cNvSpPr txBox="1"/>
          <p:nvPr/>
        </p:nvSpPr>
        <p:spPr>
          <a:xfrm>
            <a:off x="548640" y="1645920"/>
            <a:ext cx="2743200" cy="411480"/>
          </a:xfrm>
          <a:prstGeom prst="rect">
            <a:avLst/>
          </a:prstGeom>
          <a:noFill/>
          <a:ln/>
        </p:spPr>
        <p:txBody>
          <a:bodyPr wrap="square" lIns="0" tIns="0" rIns="0" bIns="0" rtlCol="0" anchor="t"/>
          <a:lstStyle/>
          <a:p>
            <a:pPr indent="0" marL="0">
              <a:buNone/>
            </a:pPr>
            <a:r>
              <a:rPr lang="en-US" sz="1100" dirty="0">
                <a:solidFill>
                  <a:schemeClr val="tx2"/>
                </a:solidFill>
              </a:rPr>
              <a:t>max abs error vs sequential, all 54 configurations</a:t>
            </a:r>
            <a:endParaRPr lang="en-US" sz="1100" dirty="0"/>
          </a:p>
        </p:txBody>
      </p:sp>
      <p:sp>
        <p:nvSpPr>
          <p:cNvPr id="5" name="Text 3"/>
          <p:cNvSpPr txBox="1"/>
          <p:nvPr/>
        </p:nvSpPr>
        <p:spPr>
          <a:xfrm>
            <a:off x="548640" y="2212848"/>
            <a:ext cx="2743200" cy="548640"/>
          </a:xfrm>
          <a:prstGeom prst="rect">
            <a:avLst/>
          </a:prstGeom>
          <a:noFill/>
          <a:ln/>
        </p:spPr>
        <p:txBody>
          <a:bodyPr wrap="square" lIns="0" tIns="0" rIns="0" bIns="0" rtlCol="0" anchor="t"/>
          <a:lstStyle/>
          <a:p>
            <a:pPr indent="0" marL="0">
              <a:buNone/>
            </a:pPr>
            <a:r>
              <a:rPr lang="en-US" sz="3400" b="1" dirty="0">
                <a:solidFill>
                  <a:schemeClr val="accent2"/>
                </a:solidFill>
                <a:latin typeface="Arial" pitchFamily="34" charset="0"/>
                <a:ea typeface="Arial" pitchFamily="34" charset="-122"/>
                <a:cs typeface="Arial" pitchFamily="34" charset="-120"/>
              </a:rPr>
              <a:t>1.01x</a:t>
            </a:r>
            <a:endParaRPr lang="en-US" sz="3400" dirty="0"/>
          </a:p>
        </p:txBody>
      </p:sp>
      <p:sp>
        <p:nvSpPr>
          <p:cNvPr id="6" name="Text 4"/>
          <p:cNvSpPr txBox="1"/>
          <p:nvPr/>
        </p:nvSpPr>
        <p:spPr>
          <a:xfrm>
            <a:off x="548640" y="2761488"/>
            <a:ext cx="2743200" cy="411480"/>
          </a:xfrm>
          <a:prstGeom prst="rect">
            <a:avLst/>
          </a:prstGeom>
          <a:noFill/>
          <a:ln/>
        </p:spPr>
        <p:txBody>
          <a:bodyPr wrap="square" lIns="0" tIns="0" rIns="0" bIns="0" rtlCol="0" anchor="t"/>
          <a:lstStyle/>
          <a:p>
            <a:pPr indent="0" marL="0">
              <a:buNone/>
            </a:pPr>
            <a:r>
              <a:rPr lang="en-US" sz="1100" dirty="0">
                <a:solidFill>
                  <a:schemeClr val="tx2"/>
                </a:solidFill>
              </a:rPr>
              <a:t>best 2-rank speedup (2000², non-blocking)</a:t>
            </a:r>
            <a:endParaRPr lang="en-US" sz="1100" dirty="0"/>
          </a:p>
        </p:txBody>
      </p:sp>
      <p:sp>
        <p:nvSpPr>
          <p:cNvPr id="7" name="Text 5"/>
          <p:cNvSpPr txBox="1"/>
          <p:nvPr/>
        </p:nvSpPr>
        <p:spPr>
          <a:xfrm>
            <a:off x="548640" y="3328416"/>
            <a:ext cx="2743200" cy="548640"/>
          </a:xfrm>
          <a:prstGeom prst="rect">
            <a:avLst/>
          </a:prstGeom>
          <a:noFill/>
          <a:ln/>
        </p:spPr>
        <p:txBody>
          <a:bodyPr wrap="square" lIns="0" tIns="0" rIns="0" bIns="0" rtlCol="0" anchor="t"/>
          <a:lstStyle/>
          <a:p>
            <a:pPr indent="0" marL="0">
              <a:buNone/>
            </a:pPr>
            <a:r>
              <a:rPr lang="en-US" sz="3400" b="1" dirty="0">
                <a:solidFill>
                  <a:schemeClr val="accent6"/>
                </a:solidFill>
                <a:latin typeface="Arial" pitchFamily="34" charset="0"/>
                <a:ea typeface="Arial" pitchFamily="34" charset="-122"/>
                <a:cs typeface="Arial" pitchFamily="34" charset="-120"/>
              </a:rPr>
              <a:t>18 / 18</a:t>
            </a:r>
            <a:endParaRPr lang="en-US" sz="3400" dirty="0"/>
          </a:p>
        </p:txBody>
      </p:sp>
      <p:sp>
        <p:nvSpPr>
          <p:cNvPr id="8" name="Text 6"/>
          <p:cNvSpPr txBox="1"/>
          <p:nvPr/>
        </p:nvSpPr>
        <p:spPr>
          <a:xfrm>
            <a:off x="548640" y="3877056"/>
            <a:ext cx="2743200" cy="411480"/>
          </a:xfrm>
          <a:prstGeom prst="rect">
            <a:avLst/>
          </a:prstGeom>
          <a:noFill/>
          <a:ln/>
        </p:spPr>
        <p:txBody>
          <a:bodyPr wrap="square" lIns="0" tIns="0" rIns="0" bIns="0" rtlCol="0" anchor="t"/>
          <a:lstStyle/>
          <a:p>
            <a:pPr indent="0" marL="0">
              <a:buNone/>
            </a:pPr>
            <a:r>
              <a:rPr lang="en-US" sz="1100" dirty="0">
                <a:solidFill>
                  <a:schemeClr val="tx2"/>
                </a:solidFill>
              </a:rPr>
              <a:t>pairs where non-blocking beat blocking</a:t>
            </a:r>
            <a:endParaRPr lang="en-US" sz="1100" dirty="0"/>
          </a:p>
        </p:txBody>
      </p:sp>
      <p:graphicFrame>
        <p:nvGraphicFramePr>
          <p:cNvPr id="9" name="Chart 0" descr=""/>
          <p:cNvGraphicFramePr/>
          <p:nvPr/>
        </p:nvGraphicFramePr>
        <p:xfrm>
          <a:off x="3566160" y="1005840"/>
          <a:ext cx="5029200" cy="292608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3566160" y="3977640"/>
            <a:ext cx="5029200" cy="548640"/>
          </a:xfrm>
          <a:prstGeom prst="rect">
            <a:avLst/>
          </a:prstGeom>
          <a:noFill/>
          <a:ln/>
        </p:spPr>
        <p:txBody>
          <a:bodyPr wrap="square" lIns="0" tIns="0" rIns="0" bIns="0" rtlCol="0" anchor="t"/>
          <a:lstStyle/>
          <a:p>
            <a:pPr indent="0" marL="0">
              <a:buNone/>
            </a:pPr>
            <a:r>
              <a:rPr lang="en-US" sz="1100" dirty="0">
                <a:solidFill>
                  <a:schemeClr val="tx2"/>
                </a:solidFill>
              </a:rPr>
              <a:t>Speedup 0.75, 0.87 and 1.01. The NumPy stencil is memory-bandwidth bound and both cores share that bandwidth, so 2 ranks top out near 1.0x.</a:t>
            </a:r>
            <a:endParaRPr lang="en-US" sz="11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749808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Discussion: answering RQ2 and RQ1</a:t>
            </a:r>
            <a:endParaRPr lang="en-US" sz="2800" dirty="0"/>
          </a:p>
        </p:txBody>
      </p:sp>
      <p:sp>
        <p:nvSpPr>
          <p:cNvPr id="3" name="disc0"/>
          <p:cNvSpPr/>
          <p:nvPr/>
        </p:nvSpPr>
        <p:spPr>
          <a:xfrm>
            <a:off x="548640" y="1097280"/>
            <a:ext cx="3931920" cy="3429000"/>
          </a:xfrm>
          <a:prstGeom prst="roundRect">
            <a:avLst>
              <a:gd name="adj" fmla="val 2133"/>
            </a:avLst>
          </a:prstGeom>
          <a:solidFill>
            <a:schemeClr val="bg2"/>
          </a:solidFill>
          <a:ln/>
        </p:spPr>
      </p:sp>
      <p:sp>
        <p:nvSpPr>
          <p:cNvPr id="4" name="Text 2"/>
          <p:cNvSpPr txBox="1"/>
          <p:nvPr/>
        </p:nvSpPr>
        <p:spPr>
          <a:xfrm>
            <a:off x="777240" y="1261872"/>
            <a:ext cx="3474720" cy="274320"/>
          </a:xfrm>
          <a:prstGeom prst="rect">
            <a:avLst/>
          </a:prstGeom>
          <a:noFill/>
          <a:ln/>
        </p:spPr>
        <p:txBody>
          <a:bodyPr wrap="square" lIns="0" tIns="0" rIns="0" bIns="0" rtlCol="0" anchor="t"/>
          <a:lstStyle/>
          <a:p>
            <a:pPr indent="0" marL="0">
              <a:buNone/>
            </a:pPr>
            <a:r>
              <a:rPr lang="en-US" sz="1300" b="1" dirty="0">
                <a:solidFill>
                  <a:schemeClr val="accent6"/>
                </a:solidFill>
              </a:rPr>
              <a:t>RQ2  Blocking vs non-blocking</a:t>
            </a:r>
            <a:endParaRPr lang="en-US" sz="1300" dirty="0"/>
          </a:p>
        </p:txBody>
      </p:sp>
      <p:sp>
        <p:nvSpPr>
          <p:cNvPr id="5" name="Text 3"/>
          <p:cNvSpPr txBox="1"/>
          <p:nvPr/>
        </p:nvSpPr>
        <p:spPr>
          <a:xfrm>
            <a:off x="777240" y="1572768"/>
            <a:ext cx="3474720" cy="54864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17 to 65%</a:t>
            </a:r>
            <a:endParaRPr lang="en-US" sz="3000" dirty="0"/>
          </a:p>
        </p:txBody>
      </p:sp>
      <p:sp>
        <p:nvSpPr>
          <p:cNvPr id="6" name="Text 4"/>
          <p:cNvSpPr txBox="1"/>
          <p:nvPr/>
        </p:nvSpPr>
        <p:spPr>
          <a:xfrm>
            <a:off x="777240" y="2121408"/>
            <a:ext cx="3474720" cy="274320"/>
          </a:xfrm>
          <a:prstGeom prst="rect">
            <a:avLst/>
          </a:prstGeom>
          <a:noFill/>
          <a:ln/>
        </p:spPr>
        <p:txBody>
          <a:bodyPr wrap="square" lIns="0" tIns="0" rIns="0" bIns="0" rtlCol="0" anchor="t"/>
          <a:lstStyle/>
          <a:p>
            <a:pPr indent="0" marL="0">
              <a:buNone/>
            </a:pPr>
            <a:r>
              <a:rPr lang="en-US" sz="1100" dirty="0">
                <a:solidFill>
                  <a:schemeClr val="tx2"/>
                </a:solidFill>
              </a:rPr>
              <a:t>faster with overlap, 2 ranks, 12 pairs</a:t>
            </a:r>
            <a:endParaRPr lang="en-US" sz="1100" dirty="0"/>
          </a:p>
        </p:txBody>
      </p:sp>
      <p:sp>
        <p:nvSpPr>
          <p:cNvPr id="7" name="Text 5"/>
          <p:cNvSpPr txBox="1"/>
          <p:nvPr/>
        </p:nvSpPr>
        <p:spPr>
          <a:xfrm>
            <a:off x="777240" y="2514600"/>
            <a:ext cx="3520440" cy="19202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Faster in all 18 pairs, including 40 to 68% on oversubscribed 4 ranks</a:t>
            </a:r>
            <a:endParaRPr lang="en-US" sz="1200" dirty="0"/>
          </a:p>
          <a:p>
            <a:pPr marL="177800" indent="-177800">
              <a:spcAft>
                <a:spcPts val="500"/>
              </a:spcAft>
              <a:buSzPct val="100000"/>
              <a:buChar char="•"/>
            </a:pPr>
            <a:r>
              <a:rPr lang="en-US" sz="1200" dirty="0">
                <a:solidFill>
                  <a:schemeClr val="tx1"/>
                </a:solidFill>
              </a:rPr>
              <a:t>Saving divided by blocking comm time: 0.34 to 1.42</a:t>
            </a:r>
            <a:endParaRPr lang="en-US" sz="1200" dirty="0"/>
          </a:p>
          <a:p>
            <a:pPr marL="177800" indent="-177800">
              <a:spcAft>
                <a:spcPts val="500"/>
              </a:spcAft>
              <a:buSzPct val="100000"/>
              <a:buChar char="•"/>
            </a:pPr>
            <a:r>
              <a:rPr lang="en-US" sz="1200" dirty="0">
                <a:solidFill>
                  <a:schemeClr val="tx1"/>
                </a:solidFill>
              </a:rPr>
              <a:t>Unexpected: at 2000² the saving exceeds the comm time, so blocking costs time outside Sendrecv (likely rank waiting, untested)</a:t>
            </a:r>
            <a:endParaRPr lang="en-US" sz="1200" dirty="0"/>
          </a:p>
        </p:txBody>
      </p:sp>
      <p:sp>
        <p:nvSpPr>
          <p:cNvPr id="8" name="disc1"/>
          <p:cNvSpPr/>
          <p:nvPr/>
        </p:nvSpPr>
        <p:spPr>
          <a:xfrm>
            <a:off x="4663440" y="1097280"/>
            <a:ext cx="3931920" cy="3429000"/>
          </a:xfrm>
          <a:prstGeom prst="roundRect">
            <a:avLst>
              <a:gd name="adj" fmla="val 2133"/>
            </a:avLst>
          </a:prstGeom>
          <a:solidFill>
            <a:schemeClr val="bg2"/>
          </a:solidFill>
          <a:ln/>
        </p:spPr>
      </p:sp>
      <p:sp>
        <p:nvSpPr>
          <p:cNvPr id="9" name="Text 7"/>
          <p:cNvSpPr txBox="1"/>
          <p:nvPr/>
        </p:nvSpPr>
        <p:spPr>
          <a:xfrm>
            <a:off x="4892040" y="1261872"/>
            <a:ext cx="3474720" cy="274320"/>
          </a:xfrm>
          <a:prstGeom prst="rect">
            <a:avLst/>
          </a:prstGeom>
          <a:noFill/>
          <a:ln/>
        </p:spPr>
        <p:txBody>
          <a:bodyPr wrap="square" lIns="0" tIns="0" rIns="0" bIns="0" rtlCol="0" anchor="t"/>
          <a:lstStyle/>
          <a:p>
            <a:pPr indent="0" marL="0">
              <a:buNone/>
            </a:pPr>
            <a:r>
              <a:rPr lang="en-US" sz="1300" b="1" dirty="0">
                <a:solidFill>
                  <a:schemeClr val="accent6"/>
                </a:solidFill>
              </a:rPr>
              <a:t>RQ1  Slab vs Cartesian</a:t>
            </a:r>
            <a:endParaRPr lang="en-US" sz="1300" dirty="0"/>
          </a:p>
        </p:txBody>
      </p:sp>
      <p:sp>
        <p:nvSpPr>
          <p:cNvPr id="10" name="Text 8"/>
          <p:cNvSpPr txBox="1"/>
          <p:nvPr/>
        </p:nvSpPr>
        <p:spPr>
          <a:xfrm>
            <a:off x="4892040" y="1572768"/>
            <a:ext cx="3474720" cy="54864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2x1 = 2x1</a:t>
            </a:r>
            <a:endParaRPr lang="en-US" sz="3000" dirty="0"/>
          </a:p>
        </p:txBody>
      </p:sp>
      <p:sp>
        <p:nvSpPr>
          <p:cNvPr id="11" name="Text 9"/>
          <p:cNvSpPr txBox="1"/>
          <p:nvPr/>
        </p:nvSpPr>
        <p:spPr>
          <a:xfrm>
            <a:off x="4892040" y="2121408"/>
            <a:ext cx="3474720" cy="274320"/>
          </a:xfrm>
          <a:prstGeom prst="rect">
            <a:avLst/>
          </a:prstGeom>
          <a:noFill/>
          <a:ln/>
        </p:spPr>
        <p:txBody>
          <a:bodyPr wrap="square" lIns="0" tIns="0" rIns="0" bIns="0" rtlCol="0" anchor="t"/>
          <a:lstStyle/>
          <a:p>
            <a:pPr indent="0" marL="0">
              <a:buNone/>
            </a:pPr>
            <a:r>
              <a:rPr lang="en-US" sz="1100" dirty="0">
                <a:solidFill>
                  <a:schemeClr val="tx2"/>
                </a:solidFill>
              </a:rPr>
              <a:t>at 2 ranks both splits are identical</a:t>
            </a:r>
            <a:endParaRPr lang="en-US" sz="1100" dirty="0"/>
          </a:p>
        </p:txBody>
      </p:sp>
      <p:sp>
        <p:nvSpPr>
          <p:cNvPr id="12" name="Text 10"/>
          <p:cNvSpPr txBox="1"/>
          <p:nvPr/>
        </p:nvSpPr>
        <p:spPr>
          <a:xfrm>
            <a:off x="4892040" y="2514600"/>
            <a:ext cx="3520440" cy="19202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Ratios of 0.62 to 1.14 at 2 ranks reflect noise and code paths, not shape</a:t>
            </a:r>
            <a:endParaRPr lang="en-US" sz="1200" dirty="0"/>
          </a:p>
          <a:p>
            <a:pPr marL="177800" indent="-177800">
              <a:spcAft>
                <a:spcPts val="500"/>
              </a:spcAft>
              <a:buSzPct val="100000"/>
              <a:buChar char="•"/>
            </a:pPr>
            <a:r>
              <a:rPr lang="en-US" sz="1200" dirty="0">
                <a:solidFill>
                  <a:schemeClr val="tx1"/>
                </a:solidFill>
              </a:rPr>
              <a:t>A real 2x2 split needs 4 ranks, which is oversubscribed here</a:t>
            </a:r>
            <a:endParaRPr lang="en-US" sz="1200" dirty="0"/>
          </a:p>
          <a:p>
            <a:pPr marL="177800" indent="-177800">
              <a:spcAft>
                <a:spcPts val="500"/>
              </a:spcAft>
              <a:buSzPct val="100000"/>
              <a:buChar char="•"/>
            </a:pPr>
            <a:r>
              <a:rPr lang="en-US" sz="1200" dirty="0">
                <a:solidFill>
                  <a:schemeClr val="tx1"/>
                </a:solidFill>
              </a:rPr>
              <a:t>There, Cartesian was slower in 5 of 6 cases: not answerable on this hardware</a:t>
            </a:r>
            <a:endParaRPr lang="en-US" sz="12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8046720" cy="548640"/>
          </a:xfrm>
          <a:prstGeom prst="rect">
            <a:avLst/>
          </a:prstGeom>
          <a:noFill/>
          <a:ln/>
        </p:spPr>
        <p:txBody>
          <a:bodyPr wrap="square" lIns="0" tIns="0" rIns="0" bIns="0" rtlCol="0" anchor="ctr"/>
          <a:lstStyle/>
          <a:p>
            <a:pPr algn="l" indent="0" marL="0">
              <a:buNone/>
            </a:pPr>
            <a:r>
              <a:rPr lang="en-US" sz="2800" b="1" dirty="0">
                <a:solidFill>
                  <a:schemeClr val="bg1"/>
                </a:solidFill>
                <a:latin typeface="Arial" pitchFamily="34" charset="0"/>
                <a:ea typeface="Arial" pitchFamily="34" charset="-122"/>
                <a:cs typeface="Arial" pitchFamily="34" charset="-120"/>
              </a:rPr>
              <a:t>Conclusion, limitations and future work</a:t>
            </a:r>
            <a:endParaRPr lang="en-US" sz="2800" dirty="0"/>
          </a:p>
        </p:txBody>
      </p:sp>
      <p:sp>
        <p:nvSpPr>
          <p:cNvPr id="3" name="Text 1"/>
          <p:cNvSpPr txBox="1"/>
          <p:nvPr/>
        </p:nvSpPr>
        <p:spPr>
          <a:xfrm>
            <a:off x="548640" y="1097280"/>
            <a:ext cx="2468880" cy="320040"/>
          </a:xfrm>
          <a:prstGeom prst="rect">
            <a:avLst/>
          </a:prstGeom>
          <a:noFill/>
          <a:ln/>
        </p:spPr>
        <p:txBody>
          <a:bodyPr wrap="square" lIns="0" tIns="0" rIns="0" bIns="0" rtlCol="0" anchor="t"/>
          <a:lstStyle/>
          <a:p>
            <a:pPr indent="0" marL="0">
              <a:buNone/>
            </a:pPr>
            <a:r>
              <a:rPr lang="en-US" sz="1600" b="1" dirty="0">
                <a:solidFill>
                  <a:schemeClr val="accent2"/>
                </a:solidFill>
              </a:rPr>
              <a:t>Answers</a:t>
            </a:r>
            <a:endParaRPr lang="en-US" sz="1600" dirty="0"/>
          </a:p>
        </p:txBody>
      </p:sp>
      <p:sp>
        <p:nvSpPr>
          <p:cNvPr id="4" name="Text 2"/>
          <p:cNvSpPr txBox="1"/>
          <p:nvPr/>
        </p:nvSpPr>
        <p:spPr>
          <a:xfrm>
            <a:off x="548640" y="1508760"/>
            <a:ext cx="2468880" cy="21031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RQ1: not answerable on 2 cores</a:t>
            </a:r>
            <a:endParaRPr lang="en-US" sz="1200" dirty="0"/>
          </a:p>
          <a:p>
            <a:pPr marL="177800" indent="-177800">
              <a:spcAft>
                <a:spcPts val="500"/>
              </a:spcAft>
              <a:buSzPct val="100000"/>
              <a:buChar char="•"/>
            </a:pPr>
            <a:r>
              <a:rPr lang="en-US" sz="1200" dirty="0">
                <a:solidFill>
                  <a:schemeClr val="bg1"/>
                </a:solidFill>
              </a:rPr>
              <a:t>RQ2: overlap cut runtime in every pair</a:t>
            </a:r>
            <a:endParaRPr lang="en-US" sz="1200" dirty="0"/>
          </a:p>
          <a:p>
            <a:pPr marL="177800" indent="-177800">
              <a:spcAft>
                <a:spcPts val="500"/>
              </a:spcAft>
              <a:buSzPct val="100000"/>
              <a:buChar char="•"/>
            </a:pPr>
            <a:r>
              <a:rPr lang="en-US" sz="1200" dirty="0">
                <a:solidFill>
                  <a:schemeClr val="bg1"/>
                </a:solidFill>
              </a:rPr>
              <a:t>MPI reaches about 1.0x; communication mode matters more than decomposition shape</a:t>
            </a:r>
            <a:endParaRPr lang="en-US" sz="1200" dirty="0"/>
          </a:p>
        </p:txBody>
      </p:sp>
      <p:sp>
        <p:nvSpPr>
          <p:cNvPr id="5" name="Text 3"/>
          <p:cNvSpPr txBox="1"/>
          <p:nvPr/>
        </p:nvSpPr>
        <p:spPr>
          <a:xfrm>
            <a:off x="3291840" y="1097280"/>
            <a:ext cx="2468880" cy="320040"/>
          </a:xfrm>
          <a:prstGeom prst="rect">
            <a:avLst/>
          </a:prstGeom>
          <a:noFill/>
          <a:ln/>
        </p:spPr>
        <p:txBody>
          <a:bodyPr wrap="square" lIns="0" tIns="0" rIns="0" bIns="0" rtlCol="0" anchor="t"/>
          <a:lstStyle/>
          <a:p>
            <a:pPr indent="0" marL="0">
              <a:buNone/>
            </a:pPr>
            <a:r>
              <a:rPr lang="en-US" sz="1600" b="1" dirty="0">
                <a:solidFill>
                  <a:schemeClr val="accent2"/>
                </a:solidFill>
              </a:rPr>
              <a:t>Limitations</a:t>
            </a:r>
            <a:endParaRPr lang="en-US" sz="1600" dirty="0"/>
          </a:p>
        </p:txBody>
      </p:sp>
      <p:sp>
        <p:nvSpPr>
          <p:cNvPr id="6" name="Text 4"/>
          <p:cNvSpPr txBox="1"/>
          <p:nvPr/>
        </p:nvSpPr>
        <p:spPr>
          <a:xfrm>
            <a:off x="3291840" y="1508760"/>
            <a:ext cx="2468880" cy="21031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One 2-core machine, shared memory only</a:t>
            </a:r>
            <a:endParaRPr lang="en-US" sz="1200" dirty="0"/>
          </a:p>
          <a:p>
            <a:pPr marL="177800" indent="-177800">
              <a:spcAft>
                <a:spcPts val="500"/>
              </a:spcAft>
              <a:buSzPct val="100000"/>
              <a:buChar char="•"/>
            </a:pPr>
            <a:r>
              <a:rPr lang="en-US" sz="1200" dirty="0">
                <a:solidFill>
                  <a:schemeClr val="bg1"/>
                </a:solidFill>
              </a:rPr>
              <a:t>4-rank runs are oversubscribed</a:t>
            </a:r>
            <a:endParaRPr lang="en-US" sz="1200" dirty="0"/>
          </a:p>
          <a:p>
            <a:pPr marL="177800" indent="-177800">
              <a:spcAft>
                <a:spcPts val="500"/>
              </a:spcAft>
              <a:buSzPct val="100000"/>
              <a:buChar char="•"/>
            </a:pPr>
            <a:r>
              <a:rPr lang="en-US" sz="1200" dirty="0">
                <a:solidFill>
                  <a:schemeClr val="bg1"/>
                </a:solidFill>
              </a:rPr>
              <a:t>NumPy kernel, same for every variant</a:t>
            </a:r>
            <a:endParaRPr lang="en-US" sz="1200" dirty="0"/>
          </a:p>
          <a:p>
            <a:pPr marL="177800" indent="-177800">
              <a:spcAft>
                <a:spcPts val="500"/>
              </a:spcAft>
              <a:buSzPct val="100000"/>
              <a:buChar char="•"/>
            </a:pPr>
            <a:r>
              <a:rPr lang="en-US" sz="1200" dirty="0">
                <a:solidFill>
                  <a:schemeClr val="bg1"/>
                </a:solidFill>
              </a:rPr>
              <a:t>Synthetic scenarios, no real temperatures</a:t>
            </a:r>
            <a:endParaRPr lang="en-US" sz="1200" dirty="0"/>
          </a:p>
        </p:txBody>
      </p:sp>
      <p:sp>
        <p:nvSpPr>
          <p:cNvPr id="7" name="Text 5"/>
          <p:cNvSpPr txBox="1"/>
          <p:nvPr/>
        </p:nvSpPr>
        <p:spPr>
          <a:xfrm>
            <a:off x="6035040" y="1097280"/>
            <a:ext cx="2468880" cy="320040"/>
          </a:xfrm>
          <a:prstGeom prst="rect">
            <a:avLst/>
          </a:prstGeom>
          <a:noFill/>
          <a:ln/>
        </p:spPr>
        <p:txBody>
          <a:bodyPr wrap="square" lIns="0" tIns="0" rIns="0" bIns="0" rtlCol="0" anchor="t"/>
          <a:lstStyle/>
          <a:p>
            <a:pPr indent="0" marL="0">
              <a:buNone/>
            </a:pPr>
            <a:r>
              <a:rPr lang="en-US" sz="1600" b="1" dirty="0">
                <a:solidFill>
                  <a:schemeClr val="accent2"/>
                </a:solidFill>
              </a:rPr>
              <a:t>Future work</a:t>
            </a:r>
            <a:endParaRPr lang="en-US" sz="1600" dirty="0"/>
          </a:p>
        </p:txBody>
      </p:sp>
      <p:sp>
        <p:nvSpPr>
          <p:cNvPr id="8" name="Text 6"/>
          <p:cNvSpPr txBox="1"/>
          <p:nvPr/>
        </p:nvSpPr>
        <p:spPr>
          <a:xfrm>
            <a:off x="6035040" y="1508760"/>
            <a:ext cx="2468880" cy="21031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Rerun on 8+ physical cores to test RQ1</a:t>
            </a:r>
            <a:endParaRPr lang="en-US" sz="1200" dirty="0"/>
          </a:p>
          <a:p>
            <a:pPr marL="177800" indent="-177800">
              <a:spcAft>
                <a:spcPts val="500"/>
              </a:spcAft>
              <a:buSzPct val="100000"/>
              <a:buChar char="•"/>
            </a:pPr>
            <a:r>
              <a:rPr lang="en-US" sz="1200" dirty="0">
                <a:solidFill>
                  <a:schemeClr val="bg1"/>
                </a:solidFill>
              </a:rPr>
              <a:t>Compiled kernel (C, Numba or Cython)</a:t>
            </a:r>
            <a:endParaRPr lang="en-US" sz="1200" dirty="0"/>
          </a:p>
          <a:p>
            <a:pPr marL="177800" indent="-177800">
              <a:spcAft>
                <a:spcPts val="500"/>
              </a:spcAft>
              <a:buSzPct val="100000"/>
              <a:buChar char="•"/>
            </a:pPr>
            <a:r>
              <a:rPr lang="en-US" sz="1200" dirty="0">
                <a:solidFill>
                  <a:schemeClr val="bg1"/>
                </a:solidFill>
              </a:rPr>
              <a:t>Time synchronisation waits separately</a:t>
            </a:r>
            <a:endParaRPr lang="en-US" sz="1200" dirty="0"/>
          </a:p>
          <a:p>
            <a:pPr marL="177800" indent="-177800">
              <a:spcAft>
                <a:spcPts val="500"/>
              </a:spcAft>
              <a:buSzPct val="100000"/>
              <a:buChar char="•"/>
            </a:pPr>
            <a:r>
              <a:rPr lang="en-US" sz="1200" dirty="0">
                <a:solidFill>
                  <a:schemeClr val="bg1"/>
                </a:solidFill>
              </a:rPr>
              <a:t>Distributed initial field, then real Johannesburg inputs</a:t>
            </a:r>
            <a:endParaRPr lang="en-US" sz="1200" dirty="0"/>
          </a:p>
        </p:txBody>
      </p:sp>
      <p:sp>
        <p:nvSpPr>
          <p:cNvPr id="9" name="measured"/>
          <p:cNvSpPr/>
          <p:nvPr/>
        </p:nvSpPr>
        <p:spPr>
          <a:xfrm>
            <a:off x="548640" y="3703320"/>
            <a:ext cx="8046720" cy="777240"/>
          </a:xfrm>
          <a:prstGeom prst="roundRect">
            <a:avLst>
              <a:gd name="adj" fmla="val 9412"/>
            </a:avLst>
          </a:prstGeom>
          <a:solidFill>
            <a:schemeClr val="accent6"/>
          </a:solidFill>
          <a:ln/>
        </p:spPr>
      </p:sp>
      <p:sp>
        <p:nvSpPr>
          <p:cNvPr id="10" name="Text 8"/>
          <p:cNvSpPr txBox="1"/>
          <p:nvPr/>
        </p:nvSpPr>
        <p:spPr>
          <a:xfrm>
            <a:off x="777240" y="3703320"/>
            <a:ext cx="7589520" cy="777240"/>
          </a:xfrm>
          <a:prstGeom prst="rect">
            <a:avLst/>
          </a:prstGeom>
          <a:noFill/>
          <a:ln/>
        </p:spPr>
        <p:txBody>
          <a:bodyPr wrap="square" lIns="0" tIns="0" rIns="0" bIns="0" rtlCol="0" anchor="ctr"/>
          <a:lstStyle/>
          <a:p>
            <a:pPr indent="0" marL="0">
              <a:buNone/>
            </a:pPr>
            <a:r>
              <a:rPr lang="en-US" sz="1200" b="1" dirty="0">
                <a:solidFill>
                  <a:schemeClr val="accent3"/>
                </a:solidFill>
              </a:rPr>
              <a:t>Measured: </a:t>
            </a:r>
            <a:pPr indent="0" marL="0">
              <a:buNone/>
            </a:pPr>
            <a:r>
              <a:rPr lang="en-US" sz="1200" dirty="0">
                <a:solidFill>
                  <a:schemeClr val="bg1"/>
                </a:solidFill>
              </a:rPr>
              <a:t>correctness, runtimes, RQ2 savings.   </a:t>
            </a:r>
            <a:pPr indent="0" marL="0">
              <a:buNone/>
            </a:pPr>
            <a:r>
              <a:rPr lang="en-US" sz="1200" b="1" dirty="0">
                <a:solidFill>
                  <a:schemeClr val="accent3"/>
                </a:solidFill>
              </a:rPr>
              <a:t>Possible future benefit: </a:t>
            </a:r>
            <a:pPr indent="0" marL="0">
              <a:buNone/>
            </a:pPr>
            <a:r>
              <a:rPr lang="en-US" sz="1200" dirty="0">
                <a:solidFill>
                  <a:schemeClr val="bg1"/>
                </a:solidFill>
              </a:rPr>
              <a:t>efficient simulation on cheap hardware could support urban-heat studies. Not shown here.</a:t>
            </a:r>
            <a:endParaRPr lang="en-US" sz="12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749808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References and acknowledgements</a:t>
            </a:r>
            <a:endParaRPr lang="en-US" sz="2800" dirty="0"/>
          </a:p>
        </p:txBody>
      </p:sp>
      <p:sp>
        <p:nvSpPr>
          <p:cNvPr id="3" name="Text 1"/>
          <p:cNvSpPr txBox="1"/>
          <p:nvPr/>
        </p:nvSpPr>
        <p:spPr>
          <a:xfrm>
            <a:off x="548640" y="1097280"/>
            <a:ext cx="3886200" cy="2926080"/>
          </a:xfrm>
          <a:prstGeom prst="rect">
            <a:avLst/>
          </a:prstGeom>
          <a:noFill/>
          <a:ln/>
        </p:spPr>
        <p:txBody>
          <a:bodyPr wrap="square" lIns="0" tIns="0" rIns="0" bIns="0" rtlCol="0" anchor="t"/>
          <a:lstStyle/>
          <a:p>
            <a:pPr indent="0" marL="0">
              <a:spcAft>
                <a:spcPts val="700"/>
              </a:spcAft>
              <a:buNone/>
            </a:pPr>
            <a:r>
              <a:rPr lang="en-US" sz="1000" dirty="0">
                <a:solidFill>
                  <a:schemeClr val="tx2"/>
                </a:solidFill>
              </a:rPr>
              <a:t>Message Passing Interface Forum. MPI: A Message-Passing Interface Standard, Version 4.0, 2021.</a:t>
            </a:r>
            <a:endParaRPr lang="en-US" sz="1000" dirty="0"/>
          </a:p>
          <a:p>
            <a:pPr indent="0" marL="0">
              <a:spcAft>
                <a:spcPts val="700"/>
              </a:spcAft>
              <a:buNone/>
            </a:pPr>
            <a:r>
              <a:rPr lang="en-US" sz="1000" dirty="0">
                <a:solidFill>
                  <a:schemeClr val="tx2"/>
                </a:solidFill>
              </a:rPr>
              <a:t>Dalcin, L. and Fang, Y.-L. L. mpi4py: Status Update After 12 Years of Development. Computing in Science &amp; Engineering 23(4), 2021.</a:t>
            </a:r>
            <a:endParaRPr lang="en-US" sz="1000" dirty="0"/>
          </a:p>
          <a:p>
            <a:pPr indent="0" marL="0">
              <a:spcAft>
                <a:spcPts val="700"/>
              </a:spcAft>
              <a:buNone/>
            </a:pPr>
            <a:r>
              <a:rPr lang="en-US" sz="1000" dirty="0">
                <a:solidFill>
                  <a:schemeClr val="tx2"/>
                </a:solidFill>
              </a:rPr>
              <a:t>Harris, C. R. et al. Array programming with NumPy. Nature 585, 2020.</a:t>
            </a:r>
            <a:endParaRPr lang="en-US" sz="1000" dirty="0"/>
          </a:p>
          <a:p>
            <a:pPr indent="0" marL="0">
              <a:spcAft>
                <a:spcPts val="700"/>
              </a:spcAft>
              <a:buNone/>
            </a:pPr>
            <a:r>
              <a:rPr lang="en-US" sz="1000" dirty="0">
                <a:solidFill>
                  <a:schemeClr val="tx2"/>
                </a:solidFill>
              </a:rPr>
              <a:t>Hunter, J. D. Matplotlib: A 2D Graphics Environment. Computing in Science &amp; Engineering 9(3), 2007.</a:t>
            </a:r>
            <a:endParaRPr lang="en-US" sz="1000" dirty="0"/>
          </a:p>
          <a:p>
            <a:pPr indent="0" marL="0">
              <a:spcAft>
                <a:spcPts val="700"/>
              </a:spcAft>
              <a:buNone/>
            </a:pPr>
            <a:r>
              <a:rPr lang="en-US" sz="1000" dirty="0">
                <a:solidFill>
                  <a:schemeClr val="tx2"/>
                </a:solidFill>
              </a:rPr>
              <a:t>Gropp, W., Lusk, E. and Skjellum, A. Using MPI, 3rd ed. MIT Press, 2014.</a:t>
            </a:r>
            <a:endParaRPr lang="en-US" sz="1000" dirty="0"/>
          </a:p>
        </p:txBody>
      </p:sp>
      <p:sp>
        <p:nvSpPr>
          <p:cNvPr id="4" name="Text 2"/>
          <p:cNvSpPr txBox="1"/>
          <p:nvPr/>
        </p:nvSpPr>
        <p:spPr>
          <a:xfrm>
            <a:off x="4709160" y="1097280"/>
            <a:ext cx="3886200" cy="2286000"/>
          </a:xfrm>
          <a:prstGeom prst="rect">
            <a:avLst/>
          </a:prstGeom>
          <a:noFill/>
          <a:ln/>
        </p:spPr>
        <p:txBody>
          <a:bodyPr wrap="square" lIns="0" tIns="0" rIns="0" bIns="0" rtlCol="0" anchor="t"/>
          <a:lstStyle/>
          <a:p>
            <a:pPr indent="0" marL="0">
              <a:spcAft>
                <a:spcPts val="700"/>
              </a:spcAft>
              <a:buNone/>
            </a:pPr>
            <a:r>
              <a:rPr lang="en-US" sz="1000" dirty="0">
                <a:solidFill>
                  <a:schemeClr val="tx2"/>
                </a:solidFill>
              </a:rPr>
              <a:t>Hoefler, T. and Belli, R. Scientific Benchmarking of Parallel Computing Systems. SC15, 2015.</a:t>
            </a:r>
            <a:endParaRPr lang="en-US" sz="1000" dirty="0"/>
          </a:p>
          <a:p>
            <a:pPr indent="0" marL="0">
              <a:spcAft>
                <a:spcPts val="700"/>
              </a:spcAft>
              <a:buNone/>
            </a:pPr>
            <a:r>
              <a:rPr lang="en-US" sz="1000" dirty="0">
                <a:solidFill>
                  <a:schemeClr val="tx2"/>
                </a:solidFill>
              </a:rPr>
              <a:t>LeVeque, R. J. Finite Difference Methods for Ordinary and Partial Differential Equations. SIAM, 2007.</a:t>
            </a:r>
            <a:endParaRPr lang="en-US" sz="1000" dirty="0"/>
          </a:p>
          <a:p>
            <a:pPr indent="0" marL="0">
              <a:spcAft>
                <a:spcPts val="700"/>
              </a:spcAft>
              <a:buNone/>
            </a:pPr>
            <a:r>
              <a:rPr lang="en-US" sz="1000" dirty="0">
                <a:solidFill>
                  <a:schemeClr val="tx2"/>
                </a:solidFill>
              </a:rPr>
              <a:t>Williams, S., Waterman, A. and Patterson, D. Roofline: An Insightful Visual Performance Model for Multicore Architectures. CACM 52(4), 2009.</a:t>
            </a:r>
            <a:endParaRPr lang="en-US" sz="1000" dirty="0"/>
          </a:p>
          <a:p>
            <a:pPr indent="0" marL="0">
              <a:spcAft>
                <a:spcPts val="700"/>
              </a:spcAft>
              <a:buNone/>
            </a:pPr>
            <a:r>
              <a:rPr lang="en-US" sz="1000" dirty="0">
                <a:solidFill>
                  <a:schemeClr val="tx2"/>
                </a:solidFill>
              </a:rPr>
              <a:t>MPICH. https://www.mpich.org</a:t>
            </a:r>
            <a:endParaRPr lang="en-US" sz="1000" dirty="0"/>
          </a:p>
        </p:txBody>
      </p:sp>
      <p:sp>
        <p:nvSpPr>
          <p:cNvPr id="5" name="ack"/>
          <p:cNvSpPr/>
          <p:nvPr/>
        </p:nvSpPr>
        <p:spPr>
          <a:xfrm>
            <a:off x="4709160" y="3429000"/>
            <a:ext cx="3886200" cy="1051560"/>
          </a:xfrm>
          <a:prstGeom prst="roundRect">
            <a:avLst>
              <a:gd name="adj" fmla="val 6957"/>
            </a:avLst>
          </a:prstGeom>
          <a:solidFill>
            <a:schemeClr val="bg2"/>
          </a:solidFill>
          <a:ln/>
        </p:spPr>
      </p:sp>
      <p:sp>
        <p:nvSpPr>
          <p:cNvPr id="6" name="Text 4"/>
          <p:cNvSpPr txBox="1"/>
          <p:nvPr/>
        </p:nvSpPr>
        <p:spPr>
          <a:xfrm>
            <a:off x="4937760" y="3566160"/>
            <a:ext cx="3474720" cy="822960"/>
          </a:xfrm>
          <a:prstGeom prst="rect">
            <a:avLst/>
          </a:prstGeom>
          <a:noFill/>
          <a:ln/>
        </p:spPr>
        <p:txBody>
          <a:bodyPr wrap="square" lIns="0" tIns="0" rIns="0" bIns="0" rtlCol="0" anchor="t"/>
          <a:lstStyle/>
          <a:p>
            <a:pPr indent="0" marL="0">
              <a:spcAft>
                <a:spcPts val="400"/>
              </a:spcAft>
              <a:buNone/>
            </a:pPr>
            <a:r>
              <a:rPr lang="en-US" sz="1200" b="1" dirty="0">
                <a:solidFill>
                  <a:schemeClr val="accent6"/>
                </a:solidFill>
              </a:rPr>
              <a:t>Acknowledgements</a:t>
            </a:r>
            <a:endParaRPr lang="en-US" sz="1200" dirty="0"/>
          </a:p>
          <a:p>
            <a:pPr indent="0" marL="0">
              <a:spcAft>
                <a:spcPts val="400"/>
              </a:spcAft>
              <a:buNone/>
            </a:pPr>
            <a:r>
              <a:rPr lang="en-US" sz="1200" dirty="0">
                <a:solidFill>
                  <a:schemeClr val="tx1"/>
                </a:solidFill>
              </a:rPr>
              <a:t>AI assistance was used as declared in the AI-use statement.</a:t>
            </a:r>
            <a:endParaRPr lang="en-US" sz="1200" dirty="0"/>
          </a:p>
        </p:txBody>
      </p:sp>
      <p:sp>
        <p:nvSpPr>
          <p:cNvPr id="25" name="Slide Number Placeholder 0"/>
          <p:cNvSpPr>
            <a:spLocks noGrp="1"/>
          </p:cNvSpPr>
          <p:nvPr>
            <p:ph type="sldNum" sz="quarter" idx="4294967295"/>
          </p:nvPr>
        </p:nvSpPr>
        <p:spPr>
          <a:xfrm>
            <a:off x="8229600" y="470916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HeatGrid">
  <a:themeElements>
    <a:clrScheme name="HeatGrid">
      <a:dk1>
        <a:srgbClr val="1D2B28"/>
      </a:dk1>
      <a:lt1>
        <a:srgbClr val="FFFFFF"/>
      </a:lt1>
      <a:dk2>
        <a:srgbClr val="56645F"/>
      </a:dk2>
      <a:lt2>
        <a:srgbClr val="EEF3F1"/>
      </a:lt2>
      <a:accent1>
        <a:srgbClr val="6E9488"/>
      </a:accent1>
      <a:accent2>
        <a:srgbClr val="E8835A"/>
      </a:accent2>
      <a:accent3>
        <a:srgbClr val="F2B45C"/>
      </a:accent3>
      <a:accent4>
        <a:srgbClr val="D9584F"/>
      </a:accent4>
      <a:accent5>
        <a:srgbClr val="B9CEC6"/>
      </a:accent5>
      <a:accent6>
        <a:srgbClr val="2F4A44"/>
      </a:accent6>
      <a:hlink>
        <a:srgbClr val="2F4A44"/>
      </a:hlink>
      <a:folHlink>
        <a:srgbClr val="6E9488"/>
      </a:folHlink>
    </a:clrScheme>
    <a:fontScheme name="HeatGri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HeatGrid: MPI heat diffusion with domain decomposition</dc:title>
  <dc:subject>PptxGenJS Presentation</dc:subject>
  <dc:creator>Clarence Ebebe</dc:creator>
  <cp:lastModifiedBy>Clarence Ebebe</cp:lastModifiedBy>
  <cp:revision>1</cp:revision>
  <dcterms:created xsi:type="dcterms:W3CDTF">2026-10-12T14:48:01Z</dcterms:created>
  <dcterms:modified xsi:type="dcterms:W3CDTF">2026-10-12T14:48:01Z</dcterms:modified>
</cp:coreProperties>
</file>